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36" r:id="rId5"/>
    <p:sldId id="365" r:id="rId6"/>
    <p:sldId id="346" r:id="rId7"/>
    <p:sldId id="363" r:id="rId8"/>
    <p:sldId id="374" r:id="rId9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589278"/>
    <a:srgbClr val="1E6040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67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1200" cap="none" spc="0" normalizeH="0" baseline="0" noProof="0">
              <a:ln>
                <a:noFill/>
              </a:ln>
              <a:solidFill>
                <a:srgbClr val="423F3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3100" b="0" i="0" u="none" strike="noStrike" kern="1200" cap="none" spc="0" normalizeH="0" baseline="0" noProof="0">
                <a:ln>
                  <a:noFill/>
                </a:ln>
                <a:solidFill>
                  <a:srgbClr val="423F3F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7815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8/24/2025</a:t>
            </a:fld>
            <a:endParaRPr kumimoji="0" lang="en-US" sz="3100" b="0" i="0" u="none" strike="noStrike" kern="1200" cap="none" spc="0" normalizeH="0" baseline="0" noProof="0">
              <a:ln>
                <a:noFill/>
              </a:ln>
              <a:solidFill>
                <a:srgbClr val="423F3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96B7A6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781583" rtl="0" eaLnBrk="1" fontAlgn="auto" latinLnBrk="0" hangingPunct="1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CA" sz="2100" b="1" i="0" u="none" strike="noStrike" kern="1200" cap="none" spc="-5" normalizeH="0" baseline="0" noProof="0" smtClean="0">
                <a:ln>
                  <a:noFill/>
                </a:ln>
                <a:solidFill>
                  <a:srgbClr val="96B7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CA" sz="2100" b="1" i="0" u="none" strike="noStrike" kern="1200" cap="none" spc="-5" normalizeH="0" baseline="0" noProof="0" dirty="0">
              <a:ln>
                <a:noFill/>
              </a:ln>
              <a:solidFill>
                <a:srgbClr val="96B7A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925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  <p:sldLayoutId id="2147483708" r:id="rId40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77C0-5C9F-C2EB-66F1-6BCB03F8D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8659-5297-4C9B-3C95-074C425E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Co-op Work Term Record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E87FB-518B-2189-5250-65B936E80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Term details page and Co-op Work Term assignments in HireAC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16B8D-1172-E706-0240-9AE7D76372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34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975" y="595313"/>
            <a:ext cx="12193032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Your Co-op Work Term Record in HireAC</a:t>
            </a:r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12749532" y="2462456"/>
            <a:ext cx="24447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781583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endParaRPr kumimoji="0" sz="3100" b="0" i="0" u="none" strike="noStrike" kern="1200" cap="none" spc="0" normalizeH="0" baseline="0" noProof="0" dirty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774" y="8585795"/>
            <a:ext cx="46233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781583" rtl="0" eaLnBrk="1" fontAlgn="auto" latinLnBrk="0" hangingPunct="1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2100" b="1" i="0" u="none" strike="noStrike" kern="1200" cap="none" spc="-5" normalizeH="0" baseline="0" noProof="0" dirty="0">
                <a:ln>
                  <a:noFill/>
                </a:ln>
                <a:solidFill>
                  <a:srgbClr val="A6C8B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975" y="1956497"/>
            <a:ext cx="7098425" cy="6697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accent5"/>
                </a:solidFill>
              </a:rPr>
              <a:t>Go to </a:t>
            </a:r>
            <a:r>
              <a:rPr lang="en-US" sz="2800" b="1" dirty="0">
                <a:solidFill>
                  <a:schemeClr val="accent5"/>
                </a:solidFill>
              </a:rPr>
              <a:t>Co-op </a:t>
            </a:r>
            <a:r>
              <a:rPr lang="en-US" sz="2800" dirty="0">
                <a:solidFill>
                  <a:schemeClr val="accent5"/>
                </a:solidFill>
              </a:rPr>
              <a:t>module, </a:t>
            </a:r>
            <a:r>
              <a:rPr lang="en-US" sz="2800" b="1" dirty="0">
                <a:solidFill>
                  <a:schemeClr val="accent5"/>
                </a:solidFill>
              </a:rPr>
              <a:t>Home</a:t>
            </a:r>
          </a:p>
          <a:p>
            <a:pPr marL="457200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accent5"/>
                </a:solidFill>
              </a:rPr>
              <a:t>Click on </a:t>
            </a:r>
            <a:r>
              <a:rPr lang="en-US" sz="2800" b="1" dirty="0">
                <a:solidFill>
                  <a:schemeClr val="accent5"/>
                </a:solidFill>
              </a:rPr>
              <a:t>View WTR </a:t>
            </a:r>
            <a:r>
              <a:rPr lang="en-US" sz="2800" dirty="0">
                <a:solidFill>
                  <a:schemeClr val="accent5"/>
                </a:solidFill>
              </a:rPr>
              <a:t>button</a:t>
            </a:r>
            <a:r>
              <a:rPr lang="en-US" sz="2800" b="1" dirty="0">
                <a:solidFill>
                  <a:schemeClr val="accent5"/>
                </a:solidFill>
              </a:rPr>
              <a:t> </a:t>
            </a:r>
            <a:r>
              <a:rPr lang="en-US" sz="2800" dirty="0">
                <a:solidFill>
                  <a:schemeClr val="accent5"/>
                </a:solidFill>
              </a:rPr>
              <a:t>in your Co-op Sequence information on the right-hand side. WTR stands for </a:t>
            </a:r>
            <a:r>
              <a:rPr lang="en-US" sz="2800" b="1" dirty="0">
                <a:solidFill>
                  <a:schemeClr val="accent5"/>
                </a:solidFill>
              </a:rPr>
              <a:t>Work Term Record details</a:t>
            </a:r>
            <a:r>
              <a:rPr lang="en-US" sz="2800" dirty="0">
                <a:solidFill>
                  <a:schemeClr val="accent5"/>
                </a:solidFill>
              </a:rPr>
              <a:t>. </a:t>
            </a:r>
          </a:p>
          <a:p>
            <a:pPr marL="1238783" lvl="1" indent="-45720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5892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</a:rPr>
              <a:t>Once you click on </a:t>
            </a:r>
            <a:r>
              <a:rPr lang="en-US" sz="2800" b="1" dirty="0">
                <a:solidFill>
                  <a:schemeClr val="accent5"/>
                </a:solidFill>
              </a:rPr>
              <a:t>WTR, </a:t>
            </a:r>
            <a:r>
              <a:rPr lang="en-US" sz="2800" dirty="0">
                <a:solidFill>
                  <a:schemeClr val="accent5"/>
                </a:solidFill>
              </a:rPr>
              <a:t>you will be redirected to a new page where you will find your detailed </a:t>
            </a:r>
            <a:r>
              <a:rPr lang="en-US" sz="2800" b="1" dirty="0">
                <a:solidFill>
                  <a:schemeClr val="accent5"/>
                </a:solidFill>
              </a:rPr>
              <a:t>Work Term Record</a:t>
            </a:r>
            <a:r>
              <a:rPr lang="en-US" sz="2800" dirty="0">
                <a:solidFill>
                  <a:schemeClr val="accent5"/>
                </a:solidFill>
              </a:rPr>
              <a:t> and your </a:t>
            </a:r>
            <a:r>
              <a:rPr lang="en-US" sz="2800" b="1" dirty="0">
                <a:solidFill>
                  <a:schemeClr val="accent5"/>
                </a:solidFill>
              </a:rPr>
              <a:t>Co-op work term assignments</a:t>
            </a:r>
            <a:r>
              <a:rPr lang="en-US" sz="2800" dirty="0">
                <a:solidFill>
                  <a:schemeClr val="accent5"/>
                </a:solidFill>
              </a:rPr>
              <a:t> in HireAC. </a:t>
            </a:r>
          </a:p>
          <a:p>
            <a:br>
              <a:rPr lang="en-US" sz="2000" dirty="0">
                <a:solidFill>
                  <a:schemeClr val="accent5"/>
                </a:solidFill>
              </a:rPr>
            </a:br>
            <a:br>
              <a:rPr lang="en-US" sz="2000" dirty="0">
                <a:solidFill>
                  <a:schemeClr val="accent5"/>
                </a:solidFill>
              </a:rPr>
            </a:br>
            <a:endParaRPr lang="en-US" sz="2000" dirty="0"/>
          </a:p>
        </p:txBody>
      </p:sp>
      <p:pic>
        <p:nvPicPr>
          <p:cNvPr id="24" name="Picture 23"/>
          <p:cNvPicPr/>
          <p:nvPr/>
        </p:nvPicPr>
        <p:blipFill rotWithShape="1">
          <a:blip r:embed="rId2"/>
          <a:srcRect l="69744" t="26026" r="1795" b="12023"/>
          <a:stretch/>
        </p:blipFill>
        <p:spPr bwMode="auto">
          <a:xfrm>
            <a:off x="11889011" y="3111499"/>
            <a:ext cx="3657600" cy="4600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Rounded Rectangle 24"/>
          <p:cNvSpPr/>
          <p:nvPr/>
        </p:nvSpPr>
        <p:spPr>
          <a:xfrm>
            <a:off x="8041387" y="3212146"/>
            <a:ext cx="551077" cy="542989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949835" y="3830970"/>
            <a:ext cx="551077" cy="542989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749531" y="3992094"/>
            <a:ext cx="1710181" cy="3123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/>
          <p:nvPr/>
        </p:nvPicPr>
        <p:blipFill rotWithShape="1">
          <a:blip r:embed="rId3"/>
          <a:srcRect l="49999" t="29168" r="44558" b="27079"/>
          <a:stretch/>
        </p:blipFill>
        <p:spPr bwMode="auto">
          <a:xfrm>
            <a:off x="8706285" y="1956497"/>
            <a:ext cx="2857245" cy="6460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8734451" y="3212146"/>
            <a:ext cx="2857245" cy="7152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8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975" y="592597"/>
            <a:ext cx="13695044" cy="7569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Co-op Work Term </a:t>
            </a:r>
            <a:r>
              <a:rPr spc="-5" dirty="0"/>
              <a:t>Assignments </a:t>
            </a:r>
            <a:r>
              <a:rPr lang="en-US" spc="-5" dirty="0"/>
              <a:t>i</a:t>
            </a:r>
            <a:r>
              <a:rPr spc="-5" dirty="0"/>
              <a:t>n HireAC</a:t>
            </a:r>
            <a:r>
              <a:rPr spc="-45" dirty="0"/>
              <a:t> 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00975" y="1665883"/>
            <a:ext cx="9175782" cy="63780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6" marR="69850">
              <a:spcBef>
                <a:spcPts val="95"/>
              </a:spcBef>
              <a:spcAft>
                <a:spcPts val="1800"/>
              </a:spcAft>
              <a:buClr>
                <a:srgbClr val="599A83"/>
              </a:buClr>
              <a:tabLst>
                <a:tab pos="469900" algn="l"/>
                <a:tab pos="470534" algn="l"/>
              </a:tabLst>
              <a:defRPr/>
            </a:pPr>
            <a:r>
              <a:rPr kumimoji="0" lang="en-US" sz="2300" b="1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r>
              <a:rPr kumimoji="0" sz="2300" b="1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o-op </a:t>
            </a:r>
            <a:r>
              <a:rPr kumimoji="0" lang="en-US" sz="2300" b="1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work</a:t>
            </a:r>
            <a:r>
              <a:rPr kumimoji="0" lang="en-US" sz="2300" b="1" i="0" u="none" strike="noStrike" kern="1200" cap="none" spc="-5" normalizeH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2300" b="1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term</a:t>
            </a:r>
            <a:r>
              <a:rPr kumimoji="0" lang="en-US" sz="2300" b="1" i="0" u="none" strike="noStrike" kern="1200" cap="none" spc="-5" normalizeH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300" b="1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assignments</a:t>
            </a:r>
            <a:r>
              <a:rPr kumimoji="0" lang="en-US" sz="2300" b="1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2300" b="1" i="1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(Work Term Record Forms)</a:t>
            </a:r>
            <a:r>
              <a:rPr kumimoji="0" sz="2300" b="1" i="1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their </a:t>
            </a: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status will be available to you in your Co-op Work Term Record</a:t>
            </a:r>
          </a:p>
          <a:p>
            <a:pPr marL="354966" marR="69850" indent="-342900">
              <a:spcBef>
                <a:spcPts val="95"/>
              </a:spcBef>
              <a:spcAft>
                <a:spcPts val="1800"/>
              </a:spcAft>
              <a:buClr>
                <a:srgbClr val="599A83"/>
              </a:buClr>
              <a:buFont typeface="Arial" panose="020B0604020202020204" pitchFamily="34" charset="0"/>
              <a:buChar char="•"/>
              <a:tabLst>
                <a:tab pos="469900" algn="l"/>
                <a:tab pos="470534" algn="l"/>
              </a:tabLst>
              <a:defRPr/>
            </a:pPr>
            <a:r>
              <a:rPr lang="en-US" sz="2300" dirty="0">
                <a:solidFill>
                  <a:srgbClr val="423F3F"/>
                </a:solidFill>
                <a:cs typeface="Arial"/>
              </a:rPr>
              <a:t>Click </a:t>
            </a:r>
            <a:r>
              <a:rPr lang="en-US" sz="2300" spc="-5" dirty="0">
                <a:solidFill>
                  <a:srgbClr val="423F3F"/>
                </a:solidFill>
                <a:cs typeface="Arial"/>
              </a:rPr>
              <a:t>on each one to </a:t>
            </a:r>
            <a:r>
              <a:rPr lang="en-US" sz="2300" spc="-10" dirty="0">
                <a:solidFill>
                  <a:srgbClr val="423F3F"/>
                </a:solidFill>
                <a:cs typeface="Arial"/>
              </a:rPr>
              <a:t>open and complete the </a:t>
            </a:r>
            <a:r>
              <a:rPr lang="en-US" sz="2300" spc="-5" dirty="0">
                <a:solidFill>
                  <a:srgbClr val="423F3F"/>
                </a:solidFill>
                <a:cs typeface="Arial"/>
              </a:rPr>
              <a:t>respective</a:t>
            </a:r>
            <a:r>
              <a:rPr lang="en-US" sz="2300" spc="-45" dirty="0">
                <a:solidFill>
                  <a:srgbClr val="423F3F"/>
                </a:solidFill>
                <a:cs typeface="Arial"/>
              </a:rPr>
              <a:t> </a:t>
            </a:r>
            <a:r>
              <a:rPr lang="en-US" sz="2300" spc="-5" dirty="0">
                <a:solidFill>
                  <a:srgbClr val="423F3F"/>
                </a:solidFill>
                <a:cs typeface="Arial"/>
              </a:rPr>
              <a:t>assignment. </a:t>
            </a:r>
          </a:p>
          <a:p>
            <a:pPr marL="12066" marR="69850">
              <a:spcBef>
                <a:spcPts val="95"/>
              </a:spcBef>
              <a:spcAft>
                <a:spcPts val="1800"/>
              </a:spcAft>
              <a:buClr>
                <a:srgbClr val="599A83"/>
              </a:buClr>
              <a:tabLst>
                <a:tab pos="469900" algn="l"/>
                <a:tab pos="470534" algn="l"/>
              </a:tabLst>
              <a:defRPr/>
            </a:pPr>
            <a:r>
              <a:rPr lang="en-US" sz="2300" b="1" spc="-5" dirty="0">
                <a:solidFill>
                  <a:srgbClr val="423F3F"/>
                </a:solidFill>
                <a:cs typeface="Arial"/>
              </a:rPr>
              <a:t>Work-term Details </a:t>
            </a:r>
            <a:r>
              <a:rPr lang="en-US" sz="2300" spc="-5" dirty="0">
                <a:solidFill>
                  <a:srgbClr val="423F3F"/>
                </a:solidFill>
                <a:cs typeface="Arial"/>
              </a:rPr>
              <a:t>includes information about your current work term such as the job description and your supervisor contact. </a:t>
            </a:r>
          </a:p>
          <a:p>
            <a:pPr marL="469900" marR="107950" indent="-457834">
              <a:spcAft>
                <a:spcPts val="1800"/>
              </a:spcAft>
              <a:buClr>
                <a:srgbClr val="599A83"/>
              </a:buClr>
              <a:buFontTx/>
              <a:buChar char="•"/>
              <a:tabLst>
                <a:tab pos="469900" algn="l"/>
                <a:tab pos="470534" algn="l"/>
              </a:tabLst>
              <a:defRPr/>
            </a:pPr>
            <a:r>
              <a:rPr lang="en-US" sz="2300" spc="-5" dirty="0">
                <a:solidFill>
                  <a:srgbClr val="423F3F"/>
                </a:solidFill>
                <a:cs typeface="Arial"/>
              </a:rPr>
              <a:t>Supervisor information can be updated by clicking on the </a:t>
            </a:r>
            <a:r>
              <a:rPr lang="en-US" sz="2300" b="1" i="1" spc="-5" dirty="0">
                <a:solidFill>
                  <a:srgbClr val="423F3F"/>
                </a:solidFill>
                <a:cs typeface="Arial"/>
              </a:rPr>
              <a:t>Edit</a:t>
            </a:r>
            <a:r>
              <a:rPr lang="en-US" sz="2300" i="1" spc="-5" dirty="0">
                <a:solidFill>
                  <a:srgbClr val="423F3F"/>
                </a:solidFill>
                <a:cs typeface="Arial"/>
              </a:rPr>
              <a:t> </a:t>
            </a:r>
            <a:r>
              <a:rPr lang="en-US" sz="2300" spc="-5" dirty="0">
                <a:solidFill>
                  <a:srgbClr val="423F3F"/>
                </a:solidFill>
                <a:cs typeface="Arial"/>
              </a:rPr>
              <a:t>option.</a:t>
            </a:r>
          </a:p>
          <a:p>
            <a:pPr marL="12066" marR="107950">
              <a:spcAft>
                <a:spcPts val="1800"/>
              </a:spcAft>
              <a:buClr>
                <a:srgbClr val="599A83"/>
              </a:buClr>
              <a:tabLst>
                <a:tab pos="469900" algn="l"/>
                <a:tab pos="470534" algn="l"/>
              </a:tabLst>
              <a:defRPr/>
            </a:pPr>
            <a:r>
              <a:rPr lang="en-US" sz="2300" b="1" spc="-5" dirty="0">
                <a:solidFill>
                  <a:srgbClr val="423F3F"/>
                </a:solidFill>
                <a:cs typeface="Arial"/>
              </a:rPr>
              <a:t>Letter of Offer </a:t>
            </a:r>
            <a:r>
              <a:rPr lang="en-US" sz="2300" spc="-5" dirty="0">
                <a:solidFill>
                  <a:srgbClr val="423F3F"/>
                </a:solidFill>
                <a:cs typeface="Arial"/>
              </a:rPr>
              <a:t>- the Co-op and Career Centre needs this letter to ensure that your conditions of employment meet Co-op requirements. </a:t>
            </a:r>
          </a:p>
          <a:p>
            <a:pPr marL="12066" marR="107950">
              <a:spcAft>
                <a:spcPts val="1800"/>
              </a:spcAft>
              <a:buClr>
                <a:srgbClr val="599A83"/>
              </a:buClr>
              <a:tabLst>
                <a:tab pos="469900" algn="l"/>
                <a:tab pos="470534" algn="l"/>
              </a:tabLst>
              <a:defRPr/>
            </a:pPr>
            <a:r>
              <a:rPr lang="en-US" sz="2300" b="1" spc="-5" dirty="0">
                <a:solidFill>
                  <a:srgbClr val="423F3F"/>
                </a:solidFill>
                <a:cs typeface="Arial"/>
              </a:rPr>
              <a:t>Student Check-in </a:t>
            </a:r>
            <a:r>
              <a:rPr lang="en-US" sz="2300" spc="-5" dirty="0">
                <a:solidFill>
                  <a:srgbClr val="423F3F"/>
                </a:solidFill>
                <a:cs typeface="Arial"/>
              </a:rPr>
              <a:t>is a brief survey that lets Co-op Student Advisor know how your work terms are progressing</a:t>
            </a:r>
          </a:p>
          <a:p>
            <a:pPr marL="12066" marR="107950">
              <a:spcAft>
                <a:spcPts val="1800"/>
              </a:spcAft>
              <a:buClr>
                <a:srgbClr val="599A83"/>
              </a:buClr>
              <a:tabLst>
                <a:tab pos="469900" algn="l"/>
                <a:tab pos="470534" algn="l"/>
              </a:tabLst>
              <a:defRPr/>
            </a:pPr>
            <a:r>
              <a:rPr lang="en-US" sz="2300" b="1" spc="-5" dirty="0">
                <a:solidFill>
                  <a:srgbClr val="423F3F"/>
                </a:solidFill>
                <a:cs typeface="Arial"/>
              </a:rPr>
              <a:t>Student Check-out </a:t>
            </a:r>
            <a:r>
              <a:rPr lang="en-US" sz="2300" spc="-5" dirty="0">
                <a:solidFill>
                  <a:srgbClr val="423F3F"/>
                </a:solidFill>
                <a:cs typeface="Arial"/>
              </a:rPr>
              <a:t>is a brief survey that helps the Co-op and Career Centre gain insight into your Co-op experience and gives you a chance to provide feedback and suggestions to our team. 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775" y="8585795"/>
            <a:ext cx="39339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781583" rtl="0" eaLnBrk="1" fontAlgn="auto" latinLnBrk="0" hangingPunct="1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2100" b="1" i="0" u="none" strike="noStrike" kern="1200" cap="none" spc="-5" normalizeH="0" baseline="0" noProof="0" dirty="0">
                <a:ln>
                  <a:noFill/>
                </a:ln>
                <a:solidFill>
                  <a:srgbClr val="A6C8B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14F017-7EA8-7372-C58A-FE2D842B9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4798" y="1665883"/>
            <a:ext cx="4706007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80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3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3288</TotalTime>
  <Words>325</Words>
  <Application>Microsoft Office PowerPoint</Application>
  <PresentationFormat>Custom</PresentationFormat>
  <Paragraphs>40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Theme</vt:lpstr>
      <vt:lpstr>HireAC</vt:lpstr>
      <vt:lpstr>HireAC Guide Sections</vt:lpstr>
      <vt:lpstr>10. Co-op Work Term Record in HireAC</vt:lpstr>
      <vt:lpstr>Your Co-op Work Term Record in HireAC</vt:lpstr>
      <vt:lpstr>Co-op Work Term Assignments in HireAC 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227</cp:revision>
  <dcterms:created xsi:type="dcterms:W3CDTF">2016-12-21T16:02:28Z</dcterms:created>
  <dcterms:modified xsi:type="dcterms:W3CDTF">2025-08-24T17:31:51Z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