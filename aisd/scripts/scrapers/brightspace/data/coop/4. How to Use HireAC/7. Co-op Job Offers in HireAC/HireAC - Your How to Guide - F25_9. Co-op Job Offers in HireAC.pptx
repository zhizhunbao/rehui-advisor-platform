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36" r:id="rId5"/>
    <p:sldId id="365" r:id="rId6"/>
    <p:sldId id="345" r:id="rId7"/>
    <p:sldId id="415" r:id="rId8"/>
    <p:sldId id="416" r:id="rId9"/>
    <p:sldId id="417" r:id="rId1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040"/>
    <a:srgbClr val="589278"/>
    <a:srgbClr val="006643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>
        <p:scale>
          <a:sx n="46" d="100"/>
          <a:sy n="46" d="100"/>
        </p:scale>
        <p:origin x="1675" y="91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0056-9553-2ADB-FA1D-1997011D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C24AF-6F64-3DDF-38A7-5F2A2A7C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61CBE-6736-C2A2-B53E-F14CC2FEB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C9898-17F9-3F08-55A8-D089D34C4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06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E028-653C-D312-8454-F5505344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E47C6-FFC3-AA33-E973-F36E84C4F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96B24-8835-96E7-B9C8-79FBB57A5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398F6-DFF2-9DA5-2E9F-08802BC9A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2D56-DA3B-6605-F987-10352779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0FB89-2F7A-56AD-0798-157768F47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0984C-90CE-F3B8-CFC7-A495D28C2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579FC-24EC-E20B-34B7-A88FDF020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9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gonquincollege.com/coop-career-centre/student-important-dat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734E-8867-2C16-D211-EFC79022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AFB4-5D35-51D2-1181-984DF036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Co-op Job Offers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1BB75-7522-D9DC-0DE4-7CB9FDD0A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review and respond to job offers in the Rankings page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EE12D-5B56-D85D-8512-7BDBA6DC8B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43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B8B3-BD61-9E3F-FB15-482DC048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211E-A769-8FD7-3743-8617605E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Viewing and responding to Co-op job offers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8C2A7-D442-ED18-2804-BD657ED2A5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2411612"/>
            <a:ext cx="14194891" cy="542174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After an employer has completed interviews, they will </a:t>
            </a:r>
            <a:r>
              <a:rPr lang="en-US" sz="2800" b="1" dirty="0"/>
              <a:t>rank their top candidates in HireAC.</a:t>
            </a:r>
            <a:r>
              <a:rPr lang="en-US" sz="2800" dirty="0"/>
              <a:t>  This means they list their top choices in order of preference—Rank 1 is their first choice, Rank 2 is their second, and so on.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 Co-op and Career Centre will extend </a:t>
            </a:r>
            <a:r>
              <a:rPr lang="en-US" sz="2800" b="1" dirty="0"/>
              <a:t>offers through HireAC </a:t>
            </a:r>
            <a:r>
              <a:rPr lang="en-US" sz="2800" dirty="0"/>
              <a:t>to the student(s) ranked as the </a:t>
            </a:r>
            <a:r>
              <a:rPr lang="en-US" sz="2800" b="1" dirty="0"/>
              <a:t>employer’s top choice (Rank 1), </a:t>
            </a:r>
            <a:r>
              <a:rPr lang="en-US" sz="2800" dirty="0"/>
              <a:t>following the </a:t>
            </a:r>
            <a:r>
              <a:rPr lang="en-US" sz="2800" dirty="0">
                <a:hlinkClick r:id="rId3"/>
              </a:rPr>
              <a:t>job offer dates </a:t>
            </a:r>
            <a:r>
              <a:rPr lang="en-US" sz="2800" dirty="0"/>
              <a:t>for each hiring round. </a:t>
            </a:r>
            <a:endParaRPr lang="en-US" sz="2800" i="1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If selected, you will receive an email through your </a:t>
            </a:r>
            <a:r>
              <a:rPr lang="en-US" sz="2800" b="1" dirty="0"/>
              <a:t>Algonquin Live </a:t>
            </a:r>
            <a:r>
              <a:rPr lang="en-US" sz="2800" dirty="0"/>
              <a:t>account with your offer and will be directed to </a:t>
            </a:r>
            <a:r>
              <a:rPr lang="en-US" sz="2800" b="1" dirty="0"/>
              <a:t>log into HireAC </a:t>
            </a:r>
            <a:r>
              <a:rPr lang="en-US" sz="2800" dirty="0"/>
              <a:t>and respond to the job offer </a:t>
            </a:r>
            <a:r>
              <a:rPr lang="en-US" sz="2800" b="1" dirty="0"/>
              <a:t>within 24 hours.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7B71A-899F-6E20-C7D7-BE03BE4F1D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4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4673-8C71-6504-7ABC-21291BBE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9FC-8E26-D481-83C0-AB58EB07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Rankings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14AB-15E4-B0C7-5974-AFAE376638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62972"/>
            <a:ext cx="7240144" cy="594564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 HireAC, go to the </a:t>
            </a:r>
            <a:r>
              <a:rPr lang="en-US" sz="2800" b="1" dirty="0"/>
              <a:t>Rankings</a:t>
            </a:r>
            <a:r>
              <a:rPr lang="en-US" sz="2800" dirty="0"/>
              <a:t> page to access and review your Co-op job offers.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 the horizontal menu at the top of the page to access this section. If a job offer is available, it will be indicated by </a:t>
            </a:r>
            <a:r>
              <a:rPr lang="en-US" sz="2800" b="1" dirty="0"/>
              <a:t>a number </a:t>
            </a:r>
            <a:r>
              <a:rPr lang="en-US" sz="2800" dirty="0"/>
              <a:t>next to the </a:t>
            </a:r>
            <a:r>
              <a:rPr lang="en-US" sz="2800" b="1" dirty="0"/>
              <a:t>Rankings</a:t>
            </a:r>
            <a:r>
              <a:rPr lang="en-US" sz="2800" dirty="0"/>
              <a:t> page label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You will be able to review the job description, supervisor name and email as well as the deadline to respond to the offer on the </a:t>
            </a:r>
            <a:r>
              <a:rPr lang="en-US" sz="2800" b="1" dirty="0"/>
              <a:t>Rankings page</a:t>
            </a:r>
            <a:r>
              <a:rPr lang="en-US" sz="2800" dirty="0"/>
              <a:t>.</a:t>
            </a:r>
          </a:p>
          <a:p>
            <a:pPr>
              <a:spcAft>
                <a:spcPts val="1200"/>
              </a:spcAft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C357B-19E3-9BAC-4E70-F43F644302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CEA0E-86FE-C587-AEEA-71DE8C387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2234" y="1862972"/>
            <a:ext cx="6288246" cy="25152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10E63-98AF-3617-4BD6-0D22569DC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2234" y="5194564"/>
            <a:ext cx="6288246" cy="1742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07B3BC-28CB-3BEB-8EE0-DE40B9893FBA}"/>
              </a:ext>
            </a:extLst>
          </p:cNvPr>
          <p:cNvSpPr/>
          <p:nvPr/>
        </p:nvSpPr>
        <p:spPr>
          <a:xfrm>
            <a:off x="14386560" y="1897764"/>
            <a:ext cx="1058148" cy="645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3FEDF-100A-8EA1-384D-8DB7A8029671}"/>
              </a:ext>
            </a:extLst>
          </p:cNvPr>
          <p:cNvSpPr/>
          <p:nvPr/>
        </p:nvSpPr>
        <p:spPr>
          <a:xfrm>
            <a:off x="10347960" y="6291421"/>
            <a:ext cx="4754880" cy="536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7AD1-BD43-4513-C03B-1E2C989D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7D34-DCF5-EE2F-8FF4-A6F8FF10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5042163" cy="1335973"/>
          </a:xfrm>
        </p:spPr>
        <p:txBody>
          <a:bodyPr/>
          <a:lstStyle/>
          <a:p>
            <a:r>
              <a:rPr lang="en-US" dirty="0"/>
              <a:t>Rankings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086B-6A4B-8C3D-A57D-FFCB3CB142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62972"/>
            <a:ext cx="7240144" cy="5330308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 accept the offer, click </a:t>
            </a:r>
            <a:r>
              <a:rPr lang="en-US" sz="2400" b="1" dirty="0"/>
              <a:t>Accept </a:t>
            </a:r>
            <a:r>
              <a:rPr lang="en-US" sz="2400" dirty="0"/>
              <a:t>and confirm your choice in the pop-up window that appears.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Once you accept a Co-op job offer, </a:t>
            </a:r>
            <a:r>
              <a:rPr lang="en-US" sz="2400" b="1" dirty="0"/>
              <a:t>your work term record</a:t>
            </a:r>
            <a:r>
              <a:rPr lang="en-US" sz="2400" dirty="0"/>
              <a:t> in the Cooperative Education Module will be automatically updated. To view it, go to the </a:t>
            </a:r>
            <a:r>
              <a:rPr lang="en-US" sz="2400" b="1" dirty="0"/>
              <a:t>Home page</a:t>
            </a:r>
            <a:r>
              <a:rPr lang="en-US" sz="2400" dirty="0"/>
              <a:t>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will also receive a notification email in HireAC confirming your offer acceptance. Please read this email carefully; it includes important reminders about Co-op terms and conditions, as well as key details such as the security screening process.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E129A-AE2E-9A5A-6292-3E501FEB70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8B947-AAB8-AB86-3EA1-B9C064467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77434" y="1862972"/>
            <a:ext cx="5943600" cy="2103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CC26D-EECC-4B8A-6739-3007B6AF7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77434" y="4528126"/>
            <a:ext cx="5943600" cy="2085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26B479-2A2B-4608-C089-2522511FC21E}"/>
              </a:ext>
            </a:extLst>
          </p:cNvPr>
          <p:cNvSpPr txBox="1"/>
          <p:nvPr/>
        </p:nvSpPr>
        <p:spPr>
          <a:xfrm>
            <a:off x="812880" y="7173820"/>
            <a:ext cx="14168039" cy="87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In addition, the employer will receive an automatic notification of your acceptance. They will typically contact you within </a:t>
            </a:r>
            <a:r>
              <a:rPr lang="en-US" sz="2400" b="1" dirty="0">
                <a:solidFill>
                  <a:schemeClr val="accent5"/>
                </a:solidFill>
              </a:rPr>
              <a:t>5 business days </a:t>
            </a:r>
            <a:r>
              <a:rPr lang="en-US" sz="2400" dirty="0">
                <a:solidFill>
                  <a:schemeClr val="accent5"/>
                </a:solidFill>
              </a:rPr>
              <a:t>to discuss the next steps in the hiring process.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0BD6D5-993B-7804-ADC7-312EB0F8AFDC}"/>
              </a:ext>
            </a:extLst>
          </p:cNvPr>
          <p:cNvSpPr/>
          <p:nvPr/>
        </p:nvSpPr>
        <p:spPr>
          <a:xfrm>
            <a:off x="10043160" y="5770562"/>
            <a:ext cx="2849880" cy="536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FDE08C-E91F-1DFE-E02F-FE8DD41123B1}"/>
              </a:ext>
            </a:extLst>
          </p:cNvPr>
          <p:cNvSpPr/>
          <p:nvPr/>
        </p:nvSpPr>
        <p:spPr>
          <a:xfrm>
            <a:off x="13196094" y="5058000"/>
            <a:ext cx="1424940" cy="536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69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445</Words>
  <Application>Microsoft Office PowerPoint</Application>
  <PresentationFormat>Custom</PresentationFormat>
  <Paragraphs>41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HireAC</vt:lpstr>
      <vt:lpstr>HireAC Guide Sections</vt:lpstr>
      <vt:lpstr>9. Co-op Job Offers in HireAC</vt:lpstr>
      <vt:lpstr>Viewing and responding to Co-op job offers in HireAC</vt:lpstr>
      <vt:lpstr>Rankings Page in HireAC</vt:lpstr>
      <vt:lpstr>Rankings Page in HireAC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226</cp:revision>
  <dcterms:created xsi:type="dcterms:W3CDTF">2016-12-21T16:02:28Z</dcterms:created>
  <dcterms:modified xsi:type="dcterms:W3CDTF">2025-08-26T02:23:43Z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