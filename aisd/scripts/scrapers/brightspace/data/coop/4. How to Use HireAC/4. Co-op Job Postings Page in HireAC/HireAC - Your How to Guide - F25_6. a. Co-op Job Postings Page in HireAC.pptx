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6" r:id="rId5"/>
    <p:sldId id="365" r:id="rId6"/>
    <p:sldId id="392" r:id="rId7"/>
    <p:sldId id="342" r:id="rId8"/>
    <p:sldId id="385" r:id="rId9"/>
    <p:sldId id="386" r:id="rId10"/>
    <p:sldId id="377" r:id="rId1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589278"/>
    <a:srgbClr val="1E6040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0BF3-CB3C-34D2-1AF5-8910D056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93B4D-B903-EAF5-68D2-C07A1912F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CAED8-8EC3-D1D0-CB60-D35FC5DC2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17144-25DE-953C-A02A-57729AD4A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7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7AED-B65D-9180-4C4B-74023DB4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E2415-020F-0844-3957-3CBC6D86F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92EB9-D72C-179C-939C-3B8BE4AB7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83BA3-6D88-B40D-E821-3A0B18659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4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algonquincollege.com/coop/contact-us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BBCB-BA5B-586F-2EFA-5D7B8BC1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7A88-7E94-3E1F-74CF-16944E9C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Co-op Job Postings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A8062-7B4D-0832-E49F-721DABD2B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Where to find and how to navigate the Co-op job posting listings in HireAC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to review and apply for Co-op jobs in HireAC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61018-CBD5-D306-DEDD-FC7D8DAEB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0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6F8F-8739-C67B-24BF-C72E3E2A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FD314-DDCA-9C01-1C55-14BD52505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81" y="3571875"/>
            <a:ext cx="9668512" cy="2000250"/>
          </a:xfrm>
        </p:spPr>
        <p:txBody>
          <a:bodyPr/>
          <a:lstStyle/>
          <a:p>
            <a:r>
              <a:rPr lang="en-US" sz="4000" dirty="0"/>
              <a:t>1. Where to find and how to navigate the Co-op job posting listings in HireAC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4028-B7C2-2E55-D96D-6F27C4579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1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7B09-63EB-3F8A-23AF-0402BE06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EF48-BF95-76CD-E9E3-43A45DC1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Co-op Job Postings Page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574FD-82AB-2CD7-D90B-6F93FDE939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795105"/>
            <a:ext cx="6353115" cy="6702350"/>
          </a:xfrm>
        </p:spPr>
        <p:txBody>
          <a:bodyPr/>
          <a:lstStyle/>
          <a:p>
            <a:pPr marL="457200" indent="-457200"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Go to HireAC, Cooperative Education module </a:t>
            </a:r>
          </a:p>
          <a:p>
            <a:pPr marL="457200" indent="-457200"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Click on the </a:t>
            </a:r>
            <a:r>
              <a:rPr lang="en-US" sz="2400" b="1" dirty="0"/>
              <a:t>Co-op</a:t>
            </a:r>
            <a:r>
              <a:rPr lang="en-US" sz="2400" dirty="0"/>
              <a:t> </a:t>
            </a:r>
            <a:r>
              <a:rPr lang="en-US" sz="2400" b="1" dirty="0"/>
              <a:t>Job Postings</a:t>
            </a:r>
            <a:r>
              <a:rPr lang="en-US" sz="2400" dirty="0"/>
              <a:t> page</a:t>
            </a:r>
          </a:p>
          <a:p>
            <a:pPr marL="107950" lvl="1" indent="0" fontAlgn="base">
              <a:lnSpc>
                <a:spcPct val="114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None/>
            </a:pPr>
            <a:r>
              <a:rPr lang="en-US" sz="2400" b="1" dirty="0">
                <a:solidFill>
                  <a:schemeClr val="tx1"/>
                </a:solidFill>
              </a:rPr>
              <a:t>Note: </a:t>
            </a: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b="1" dirty="0">
                <a:solidFill>
                  <a:schemeClr val="tx1"/>
                </a:solidFill>
              </a:rPr>
              <a:t>Career &amp; Employment Job Postings </a:t>
            </a:r>
            <a:r>
              <a:rPr lang="en-US" sz="2400" dirty="0">
                <a:solidFill>
                  <a:schemeClr val="tx1"/>
                </a:solidFill>
              </a:rPr>
              <a:t>page does </a:t>
            </a:r>
            <a:r>
              <a:rPr lang="en-US" sz="2400" u="sng" dirty="0">
                <a:solidFill>
                  <a:schemeClr val="tx1"/>
                </a:solidFill>
              </a:rPr>
              <a:t>not</a:t>
            </a:r>
            <a:r>
              <a:rPr lang="en-US" sz="2400" dirty="0">
                <a:solidFill>
                  <a:schemeClr val="tx1"/>
                </a:solidFill>
              </a:rPr>
              <a:t> contain Co-op jobs.</a:t>
            </a:r>
          </a:p>
          <a:p>
            <a:pPr marL="450850" lvl="1" indent="-342900" fontAlgn="base">
              <a:lnSpc>
                <a:spcPct val="114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</a:pPr>
            <a:r>
              <a:rPr lang="en-US" sz="2400" dirty="0">
                <a:solidFill>
                  <a:schemeClr val="tx1"/>
                </a:solidFill>
              </a:rPr>
              <a:t>These jobs are full-time, part-time, and summer employment postings in a variety of industries and career fields</a:t>
            </a:r>
          </a:p>
          <a:p>
            <a:pPr marL="393700" lvl="1" indent="-285750" fontAlgn="base">
              <a:lnSpc>
                <a:spcPct val="114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</a:pPr>
            <a:r>
              <a:rPr lang="en-US" sz="2400" dirty="0">
                <a:solidFill>
                  <a:schemeClr val="tx1"/>
                </a:solidFill>
              </a:rPr>
              <a:t>You can use this posting board if you are looking for a part-time job, after completing your Co-op work terms or after graduation as there will be many great opportunities posted here. 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7F2F7-F89D-DFF7-E012-B1958B5ADB2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EB47D-AEB0-B29C-DCFF-5FC788894CE8}"/>
              </a:ext>
            </a:extLst>
          </p:cNvPr>
          <p:cNvPicPr/>
          <p:nvPr/>
        </p:nvPicPr>
        <p:blipFill rotWithShape="1">
          <a:blip r:embed="rId3"/>
          <a:srcRect t="28712" r="91667" b="33460"/>
          <a:stretch/>
        </p:blipFill>
        <p:spPr bwMode="auto">
          <a:xfrm>
            <a:off x="12182364" y="1795105"/>
            <a:ext cx="3262344" cy="4165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58030A-EE80-177E-E5D3-0CD6709A5C78}"/>
              </a:ext>
            </a:extLst>
          </p:cNvPr>
          <p:cNvCxnSpPr/>
          <p:nvPr/>
        </p:nvCxnSpPr>
        <p:spPr>
          <a:xfrm>
            <a:off x="12600704" y="2009665"/>
            <a:ext cx="1955800" cy="11428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B85121-DEB5-FE3E-ECD8-22844421EF21}"/>
              </a:ext>
            </a:extLst>
          </p:cNvPr>
          <p:cNvCxnSpPr/>
          <p:nvPr/>
        </p:nvCxnSpPr>
        <p:spPr>
          <a:xfrm flipH="1">
            <a:off x="12670555" y="2048883"/>
            <a:ext cx="1816099" cy="12212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3A413A8-F03A-6813-D66D-7824FA35C135}"/>
              </a:ext>
            </a:extLst>
          </p:cNvPr>
          <p:cNvPicPr/>
          <p:nvPr/>
        </p:nvPicPr>
        <p:blipFill rotWithShape="1">
          <a:blip r:embed="rId4"/>
          <a:srcRect l="1" t="28257" r="91794" b="26194"/>
          <a:stretch/>
        </p:blipFill>
        <p:spPr bwMode="auto">
          <a:xfrm>
            <a:off x="8124049" y="1795105"/>
            <a:ext cx="3181680" cy="4968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C9E99D99-CB3A-DF14-8CD5-C45DF9C5F46F}"/>
              </a:ext>
            </a:extLst>
          </p:cNvPr>
          <p:cNvSpPr/>
          <p:nvPr/>
        </p:nvSpPr>
        <p:spPr>
          <a:xfrm>
            <a:off x="7405512" y="2775148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514CEA55-13E3-9196-6365-A0B2493DB850}"/>
              </a:ext>
            </a:extLst>
          </p:cNvPr>
          <p:cNvSpPr/>
          <p:nvPr/>
        </p:nvSpPr>
        <p:spPr>
          <a:xfrm>
            <a:off x="7405512" y="3587754"/>
            <a:ext cx="560440" cy="530942"/>
          </a:xfrm>
          <a:prstGeom prst="roundRect">
            <a:avLst/>
          </a:prstGeom>
          <a:solidFill>
            <a:srgbClr val="00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2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FE0D-90CA-AF62-EAC0-94CA2F0C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7FE0-8B64-A7B9-B6A8-7EBCA4C4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Co-op Job Postings in HireAC -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87C95-C254-7D8C-AF1F-BC3F91B5E2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5105"/>
            <a:ext cx="6921148" cy="6449010"/>
          </a:xfrm>
        </p:spPr>
        <p:txBody>
          <a:bodyPr/>
          <a:lstStyle/>
          <a:p>
            <a:pPr lvl="0">
              <a:spcBef>
                <a:spcPts val="1200"/>
              </a:spcBef>
              <a:buClr>
                <a:srgbClr val="00673E"/>
              </a:buClr>
            </a:pPr>
            <a:r>
              <a:rPr lang="en-US" sz="2400" b="1" dirty="0">
                <a:solidFill>
                  <a:srgbClr val="589278"/>
                </a:solidFill>
                <a:latin typeface="Arial" pitchFamily="34" charset="0"/>
                <a:cs typeface="Arial" pitchFamily="34" charset="0"/>
              </a:rPr>
              <a:t>Viewing Co-op jobs</a:t>
            </a:r>
          </a:p>
          <a:p>
            <a:pPr marL="514350" lvl="0" indent="-514350">
              <a:spcBef>
                <a:spcPts val="1200"/>
              </a:spcBef>
              <a:buClr>
                <a:srgbClr val="00673E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Click on 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My Program.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will display a list of all the jobs that are posted for your program of study by the Co-op and Career Centre. </a:t>
            </a:r>
          </a:p>
          <a:p>
            <a:pPr marL="514350" lvl="0" indent="-514350">
              <a:spcBef>
                <a:spcPts val="1200"/>
              </a:spcBef>
              <a:buClr>
                <a:srgbClr val="00673E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 the 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Shortlist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option to create a personalized list of jobs you plan to apply for.</a:t>
            </a:r>
          </a:p>
          <a:p>
            <a:pPr>
              <a:spcBef>
                <a:spcPts val="1200"/>
              </a:spcBef>
              <a:buClr>
                <a:srgbClr val="00673E"/>
              </a:buClr>
            </a:pPr>
            <a:r>
              <a:rPr lang="en-US" sz="2400" b="1" dirty="0">
                <a:solidFill>
                  <a:srgbClr val="589278"/>
                </a:solidFill>
              </a:rPr>
              <a:t>Outcome Campus Connect Opportunities </a:t>
            </a:r>
          </a:p>
          <a:p>
            <a:pPr marL="514350" indent="-514350">
              <a:spcBef>
                <a:spcPts val="1200"/>
              </a:spcBef>
              <a:buClr>
                <a:srgbClr val="00673E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is an alternative source of job postings, similar to other external job boards.</a:t>
            </a:r>
          </a:p>
          <a:p>
            <a:pPr marL="514350" indent="-514350">
              <a:spcBef>
                <a:spcPts val="1200"/>
              </a:spcBef>
              <a:buClr>
                <a:srgbClr val="00673E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These job postings 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are not vetted and posted 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by the Co-op and Career Centre. If you secure a Co-op job using this option, 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 will need to declare this job for review and approval.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9A0EB-91F3-3BC1-F37A-0CBF7DEB17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340C4-FC41-921D-4FC7-36855D7A0049}"/>
              </a:ext>
            </a:extLst>
          </p:cNvPr>
          <p:cNvPicPr/>
          <p:nvPr/>
        </p:nvPicPr>
        <p:blipFill rotWithShape="1">
          <a:blip r:embed="rId3"/>
          <a:srcRect t="28257" r="74881" b="13406"/>
          <a:stretch>
            <a:fillRect/>
          </a:stretch>
        </p:blipFill>
        <p:spPr bwMode="auto">
          <a:xfrm>
            <a:off x="8330623" y="1795104"/>
            <a:ext cx="7114084" cy="4660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DD6BF6-C9AA-E931-0C0D-6153B2239F86}"/>
              </a:ext>
            </a:extLst>
          </p:cNvPr>
          <p:cNvSpPr/>
          <p:nvPr/>
        </p:nvSpPr>
        <p:spPr>
          <a:xfrm>
            <a:off x="10705040" y="3950489"/>
            <a:ext cx="2365249" cy="349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9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0" y="768365"/>
            <a:ext cx="14672925" cy="1335973"/>
          </a:xfrm>
        </p:spPr>
        <p:txBody>
          <a:bodyPr/>
          <a:lstStyle/>
          <a:p>
            <a:r>
              <a:rPr lang="en-US" dirty="0"/>
              <a:t>You do not have access to Co-op jobs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12880" y="2100124"/>
            <a:ext cx="14209406" cy="4982847"/>
          </a:xfrm>
          <a:prstGeom prst="rect">
            <a:avLst/>
          </a:prstGeom>
        </p:spPr>
        <p:txBody>
          <a:bodyPr/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Tx/>
              <a:buNone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charset="2"/>
              <a:buChar char="§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If you see this message under the Co-op Job Posting page you are not released to view Co-op jobs in HireAC.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Please connect with your </a:t>
            </a:r>
            <a:r>
              <a:rPr lang="en-US" sz="2800" dirty="0">
                <a:hlinkClick r:id="rId2"/>
              </a:rPr>
              <a:t>Co-op Student Advisor </a:t>
            </a:r>
            <a:r>
              <a:rPr lang="en-US" sz="2800" dirty="0"/>
              <a:t>for more information.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844" y="3904013"/>
            <a:ext cx="13475900" cy="1335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0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2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380</Words>
  <Application>Microsoft Office PowerPoint</Application>
  <PresentationFormat>Custom</PresentationFormat>
  <Paragraphs>47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HireAC</vt:lpstr>
      <vt:lpstr>HireAC Guide Sections</vt:lpstr>
      <vt:lpstr>6. Co-op Job Postings Page in HireAC</vt:lpstr>
      <vt:lpstr>PowerPoint Presentation</vt:lpstr>
      <vt:lpstr>Co-op Job Postings Page in HireAC</vt:lpstr>
      <vt:lpstr>Co-op Job Postings in HireAC - continued</vt:lpstr>
      <vt:lpstr>You do not have access to Co-op jobs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228</cp:revision>
  <dcterms:created xsi:type="dcterms:W3CDTF">2016-12-21T16:02:28Z</dcterms:created>
  <dcterms:modified xsi:type="dcterms:W3CDTF">2025-08-24T17:24:57Z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