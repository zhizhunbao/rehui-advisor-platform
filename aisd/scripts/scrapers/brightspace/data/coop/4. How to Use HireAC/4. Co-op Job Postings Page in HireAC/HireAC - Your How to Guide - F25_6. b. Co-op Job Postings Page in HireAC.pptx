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36" r:id="rId5"/>
    <p:sldId id="365" r:id="rId6"/>
    <p:sldId id="392" r:id="rId7"/>
    <p:sldId id="343" r:id="rId8"/>
    <p:sldId id="387" r:id="rId9"/>
    <p:sldId id="389" r:id="rId10"/>
    <p:sldId id="390" r:id="rId11"/>
    <p:sldId id="391" r:id="rId12"/>
    <p:sldId id="388" r:id="rId13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589278"/>
    <a:srgbClr val="1E6040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483B-AA04-164D-3209-839E8045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0DCD4-B1CF-709B-8619-4EA57BEEA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CA4FE-082F-0E07-A820-DA1E7F9A6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717F0-C713-08F4-12B3-09828AA7B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89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8EA5-4961-33AE-7A4A-BFCC80F3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D2400-5E21-E1E3-5B37-A015D04FC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4E51A-EB0E-652B-9A74-7D9DC3312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7FF8E-B49D-0BBC-CC11-A8C378094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34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F43C6-BBD9-8111-EFE0-10FA786B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BCF31-EAFD-B570-A7E8-53D0FD573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93DC7-A9EC-1D65-8A83-68B2430A5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5DBC9-A869-92EB-99B8-AA6D14316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3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AA1F-32A0-2107-790D-7B785F7A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39664-A91B-4F25-A63C-EE55BB0A5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0E5BE-8D8D-E314-D66A-A1910DCA4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5D13D-F9C5-BBFD-49F0-ADDF66400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30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B096-75E3-D9FD-3AEB-12D57FFB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B85D0-BE06-54D1-98D1-266B806A2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627F4-A8E2-E462-3EBE-5958E5F83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B219B-155B-E21D-E919-6BF53DDE9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68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18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CBBCB-BA5B-586F-2EFA-5D7B8BC1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7A88-7E94-3E1F-74CF-16944E9C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Co-op Job Postings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A8062-7B4D-0832-E49F-721DABD2B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Where to find and how to navigate the Co-op job posting listings in HireAC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review and apply for Co-op jobs in HireAC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61018-CBD5-D306-DEDD-FC7D8DAEBC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0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0343-203B-7105-54C3-543193C6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3A8D5-475D-10EA-AE83-73EE3E59F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81" y="3267333"/>
            <a:ext cx="9668512" cy="2000250"/>
          </a:xfrm>
        </p:spPr>
        <p:txBody>
          <a:bodyPr/>
          <a:lstStyle/>
          <a:p>
            <a:r>
              <a:rPr lang="en-US" sz="4000" dirty="0"/>
              <a:t>2. How to review and apply for Co-op jobs in HireAC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B79A6-30CC-52CD-647C-13A12FFCC1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2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69CD-C169-81BA-1B83-57984B61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0872-E252-4420-601B-DD389926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Viewing and Applying for Co-op Jobs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6BB53-64B6-55D0-D276-0F3A640F1E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95105"/>
            <a:ext cx="7155462" cy="5814009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dirty="0"/>
              <a:t>On the </a:t>
            </a:r>
            <a:r>
              <a:rPr lang="en-US" sz="2400" b="1" dirty="0"/>
              <a:t>Search Results </a:t>
            </a:r>
            <a:r>
              <a:rPr lang="en-US" sz="2400" dirty="0"/>
              <a:t>page, you will see the jobs with the job posting title, company name, location, and deadline dates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dirty="0"/>
              <a:t>Click on the </a:t>
            </a:r>
            <a:r>
              <a:rPr lang="en-US" sz="2400" b="1" dirty="0"/>
              <a:t>Job Title </a:t>
            </a:r>
            <a:r>
              <a:rPr lang="en-US" sz="2400" dirty="0"/>
              <a:t>name to view the entire job description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dirty="0">
                <a:cs typeface="Arial"/>
              </a:rPr>
              <a:t>Read over the job description. If you want to apply to the position, review and follow the </a:t>
            </a:r>
            <a:r>
              <a:rPr lang="en-US" sz="2400" b="1" dirty="0">
                <a:cs typeface="Arial"/>
              </a:rPr>
              <a:t>Application Information </a:t>
            </a:r>
            <a:r>
              <a:rPr lang="en-US" sz="2400" dirty="0">
                <a:cs typeface="Arial"/>
              </a:rPr>
              <a:t>details. In HireAC you can apply for jobs through: HireAC itself or the Employer Website.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400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45002-D750-A288-AC2D-0BAF0D8749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F2DD78F-463E-88D0-4CE9-52F495B4B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15030" y="6563493"/>
            <a:ext cx="14229677" cy="1364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DB4100CC-3140-33E9-BB9E-6528F02C4E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15"/>
          <a:stretch>
            <a:fillRect/>
          </a:stretch>
        </p:blipFill>
        <p:spPr>
          <a:xfrm>
            <a:off x="8572502" y="1795105"/>
            <a:ext cx="7331528" cy="2948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3EB57A-93FA-91F6-1832-34C4F89A20CD}"/>
              </a:ext>
            </a:extLst>
          </p:cNvPr>
          <p:cNvSpPr/>
          <p:nvPr/>
        </p:nvSpPr>
        <p:spPr>
          <a:xfrm>
            <a:off x="8572501" y="1898392"/>
            <a:ext cx="1831769" cy="372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1F4F8-7E9C-5738-6467-B44FCD6DB2F5}"/>
              </a:ext>
            </a:extLst>
          </p:cNvPr>
          <p:cNvSpPr/>
          <p:nvPr/>
        </p:nvSpPr>
        <p:spPr>
          <a:xfrm>
            <a:off x="3685358" y="6563494"/>
            <a:ext cx="3433906" cy="1170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820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621D-648B-8E4F-A37F-694AFF5C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CD12-877F-0E29-D2E2-6FB211C3C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Applying for Co-op jobs through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2B98B-B147-0692-C56D-F4839AAE8D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95105"/>
            <a:ext cx="7163816" cy="67023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will create an Application Package in HireAC with the required application documents.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the </a:t>
            </a:r>
            <a:r>
              <a:rPr lang="en-US" sz="2400" b="1" dirty="0"/>
              <a:t>Application Information </a:t>
            </a:r>
            <a:r>
              <a:rPr lang="en-US" sz="2400" dirty="0"/>
              <a:t>section, you can find out what documents the employer requested for student applications. </a:t>
            </a:r>
          </a:p>
          <a:p>
            <a:pPr lvl="1"/>
            <a:r>
              <a:rPr lang="en-US" sz="2400" dirty="0"/>
              <a:t>HireAC is set up in a way that you </a:t>
            </a:r>
            <a:r>
              <a:rPr lang="en-US" sz="2400" b="1" dirty="0"/>
              <a:t>must</a:t>
            </a:r>
            <a:r>
              <a:rPr lang="en-US" sz="2400" dirty="0"/>
              <a:t> have the requested documents in your package to apply for that opportunity </a:t>
            </a:r>
            <a:endParaRPr lang="en-US" sz="3600" dirty="0"/>
          </a:p>
          <a:p>
            <a:pPr marL="0" lvl="1" indent="0">
              <a:buNone/>
            </a:pPr>
            <a:r>
              <a:rPr lang="en-US" sz="2400" b="1" dirty="0"/>
              <a:t>Please note: </a:t>
            </a:r>
            <a:r>
              <a:rPr lang="en-US" sz="2400" dirty="0"/>
              <a:t>HireAC does </a:t>
            </a:r>
            <a:r>
              <a:rPr lang="en-US" sz="2400" b="1" i="1" dirty="0"/>
              <a:t>not</a:t>
            </a:r>
            <a:r>
              <a:rPr lang="en-US" sz="2400" dirty="0"/>
              <a:t> have a section to upload a transcript or a portfolio. </a:t>
            </a:r>
          </a:p>
          <a:p>
            <a:pPr marL="342900" lvl="1" indent="-342900"/>
            <a:r>
              <a:rPr lang="en-US" sz="2400" dirty="0"/>
              <a:t>If a transcript or a portfolio is requested as part of your application, please include them as an additional page(s) to your resume or by adding a URL link in your resume header.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EDF6C-0437-AF6B-0DA0-8E27EAE2496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68931-440D-BDE0-ED42-8ECFE7449092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1795" t="30768" r="27436" b="16354"/>
          <a:stretch/>
        </p:blipFill>
        <p:spPr bwMode="auto">
          <a:xfrm>
            <a:off x="8501602" y="1795105"/>
            <a:ext cx="7163816" cy="3701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431559-E51E-2FEC-FBDE-344CA5744DBF}"/>
              </a:ext>
            </a:extLst>
          </p:cNvPr>
          <p:cNvSpPr/>
          <p:nvPr/>
        </p:nvSpPr>
        <p:spPr>
          <a:xfrm>
            <a:off x="8501602" y="1795105"/>
            <a:ext cx="7163816" cy="11091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0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BD7F-3327-E55B-B90C-DB15DEF5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3813-D0FF-C854-D53E-824C56152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Creating an Application Package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A4D3E-08EE-3CA9-EAA5-0C1756B294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95105"/>
            <a:ext cx="7873920" cy="6702350"/>
          </a:xfrm>
        </p:spPr>
        <p:txBody>
          <a:bodyPr/>
          <a:lstStyle/>
          <a:p>
            <a:r>
              <a:rPr lang="en-US" sz="2400" b="1" dirty="0">
                <a:solidFill>
                  <a:srgbClr val="589278"/>
                </a:solidFill>
              </a:rPr>
              <a:t>A separate package is required for each job application!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Within a position in HireAC select </a:t>
            </a:r>
            <a:r>
              <a:rPr lang="en-US" sz="2400" b="1" dirty="0"/>
              <a:t>Apply </a:t>
            </a:r>
            <a:r>
              <a:rPr lang="en-US" sz="2400" dirty="0"/>
              <a:t>on the left-hand side of the screen.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On the next screen, follow the steps to creating the Application Package.</a:t>
            </a:r>
          </a:p>
          <a:p>
            <a:pPr marL="1238783" lvl="1" indent="-457200">
              <a:spcAft>
                <a:spcPts val="600"/>
              </a:spcAft>
              <a:buFont typeface="+mj-lt"/>
              <a:buAutoNum type="alphaLcParenR"/>
            </a:pPr>
            <a:r>
              <a:rPr lang="en-US" sz="2400" dirty="0"/>
              <a:t>You may have to scroll down to see these steps 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 Name the Package.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 Select/upload the required documents.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Confirm Package, it will appear at the top of the page.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 Click </a:t>
            </a:r>
            <a:r>
              <a:rPr lang="en-US" sz="2400" b="1" dirty="0"/>
              <a:t>Apply </a:t>
            </a:r>
            <a:r>
              <a:rPr lang="en-US" sz="2400" dirty="0"/>
              <a:t>beside the application you created.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9F9BA0-7BC8-B470-7238-E0B813D6065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161CE-252A-4EE6-0F1A-42D35508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95" y="1795105"/>
            <a:ext cx="5489772" cy="2079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5ADEFCA4-4F4F-6919-B1A9-76097C851C93}"/>
              </a:ext>
            </a:extLst>
          </p:cNvPr>
          <p:cNvSpPr/>
          <p:nvPr/>
        </p:nvSpPr>
        <p:spPr>
          <a:xfrm>
            <a:off x="12035283" y="2286764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921CAD-D91F-63C1-5871-A67DE7E0B8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794" y="4137261"/>
            <a:ext cx="4482319" cy="44460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7632ECAD-0A1B-C61F-0532-692FFE007558}"/>
              </a:ext>
            </a:extLst>
          </p:cNvPr>
          <p:cNvSpPr/>
          <p:nvPr/>
        </p:nvSpPr>
        <p:spPr>
          <a:xfrm>
            <a:off x="9656543" y="5903262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C57DD5-0D72-7D7F-A459-52A2CB87CA68}"/>
              </a:ext>
            </a:extLst>
          </p:cNvPr>
          <p:cNvSpPr/>
          <p:nvPr/>
        </p:nvSpPr>
        <p:spPr>
          <a:xfrm>
            <a:off x="9656543" y="4137261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9B74E6-CEF8-8CD9-AB2E-E38BE0BA8736}"/>
              </a:ext>
            </a:extLst>
          </p:cNvPr>
          <p:cNvSpPr/>
          <p:nvPr/>
        </p:nvSpPr>
        <p:spPr>
          <a:xfrm>
            <a:off x="9656543" y="7262100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9332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8C0ED-19D4-93DC-D757-5EDE74E6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F7C7-83C6-EBB0-B9CF-C27BEF8E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Applying for jobs through the Employer Website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9BB8C-FBBD-95D8-777C-88F676CE67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795105"/>
            <a:ext cx="14194891" cy="6702350"/>
          </a:xfrm>
        </p:spPr>
        <p:txBody>
          <a:bodyPr/>
          <a:lstStyle/>
          <a:p>
            <a:r>
              <a:rPr lang="en-US" sz="2400" dirty="0"/>
              <a:t>In some cases, employers will ask that you apply on their website. This will require you to also complete an Application Form online on the employer’s website.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423F3F"/>
                </a:solidFill>
              </a:rPr>
              <a:t>In the </a:t>
            </a:r>
            <a:r>
              <a:rPr lang="en-US" sz="2400" b="1" dirty="0">
                <a:solidFill>
                  <a:srgbClr val="423F3F"/>
                </a:solidFill>
              </a:rPr>
              <a:t>Application Information </a:t>
            </a:r>
            <a:r>
              <a:rPr lang="en-US" sz="2400" dirty="0">
                <a:solidFill>
                  <a:srgbClr val="423F3F"/>
                </a:solidFill>
              </a:rPr>
              <a:t>section, you can find out what documents you need to apply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Click on the </a:t>
            </a:r>
            <a:r>
              <a:rPr lang="en-US" sz="2400" b="1" dirty="0"/>
              <a:t>Apply</a:t>
            </a:r>
            <a:r>
              <a:rPr lang="en-US" sz="2400" dirty="0"/>
              <a:t> button under the job posting information at the top of the page to follow the application link and </a:t>
            </a:r>
            <a:r>
              <a:rPr lang="en-US" sz="2400" b="1" dirty="0"/>
              <a:t>to track your application in HireAC</a:t>
            </a:r>
            <a:r>
              <a:rPr lang="en-US" sz="24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C5D11-D1A2-01D9-B120-DD9CB646CB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4E2FE-093F-0734-5B7D-2897C1A83E19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1795" t="25755" r="27949" b="43703"/>
          <a:stretch/>
        </p:blipFill>
        <p:spPr bwMode="auto">
          <a:xfrm>
            <a:off x="812880" y="4460699"/>
            <a:ext cx="7645320" cy="2613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25B743-EE5A-AEA6-1EEC-5F2869BEE5C9}"/>
              </a:ext>
            </a:extLst>
          </p:cNvPr>
          <p:cNvSpPr/>
          <p:nvPr/>
        </p:nvSpPr>
        <p:spPr>
          <a:xfrm>
            <a:off x="986582" y="4897812"/>
            <a:ext cx="7162760" cy="8751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94B87F44-DB29-FC0B-389B-F8B6115DC10F}"/>
              </a:ext>
            </a:extLst>
          </p:cNvPr>
          <p:cNvSpPr/>
          <p:nvPr/>
        </p:nvSpPr>
        <p:spPr>
          <a:xfrm>
            <a:off x="327088" y="4848966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A66087-8DD1-DEFA-2606-22BE0808464B}"/>
              </a:ext>
            </a:extLst>
          </p:cNvPr>
          <p:cNvPicPr/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0897" t="25071" r="2179" b="12479"/>
          <a:stretch/>
        </p:blipFill>
        <p:spPr bwMode="auto">
          <a:xfrm>
            <a:off x="9168383" y="4460699"/>
            <a:ext cx="6126521" cy="2797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7E79E82A-CF93-18A7-CA49-2113152156EC}"/>
              </a:ext>
            </a:extLst>
          </p:cNvPr>
          <p:cNvSpPr/>
          <p:nvPr/>
        </p:nvSpPr>
        <p:spPr>
          <a:xfrm>
            <a:off x="8584267" y="5117008"/>
            <a:ext cx="556024" cy="547864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341008-A91B-3D7E-24EC-61D9CDFCCF30}"/>
              </a:ext>
            </a:extLst>
          </p:cNvPr>
          <p:cNvPicPr/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1026" t="25527" r="1794" b="10656"/>
          <a:stretch/>
        </p:blipFill>
        <p:spPr bwMode="auto">
          <a:xfrm>
            <a:off x="9922227" y="6154053"/>
            <a:ext cx="5650690" cy="24189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5828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B3A5-1CD3-31AE-4B4F-11A33CE2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CF58-B1F1-4B7F-6A12-A41C30D0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Important Notes on Job Applications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23B28-40D8-B89F-E726-91240AFD3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795106"/>
            <a:ext cx="14194891" cy="1731866"/>
          </a:xfrm>
        </p:spPr>
        <p:txBody>
          <a:bodyPr/>
          <a:lstStyle/>
          <a:p>
            <a:r>
              <a:rPr lang="en-US" sz="2400" dirty="0"/>
              <a:t>Before proceeding with your job applications, please </a:t>
            </a:r>
            <a:r>
              <a:rPr lang="en-US" sz="2400" b="1" dirty="0"/>
              <a:t>read the job descriptions carefully </a:t>
            </a:r>
            <a:r>
              <a:rPr lang="en-US" sz="2400" dirty="0"/>
              <a:t>to fully understand the job responsibilities and qualifications required by the employer, and be sure to </a:t>
            </a:r>
            <a:r>
              <a:rPr lang="en-US" sz="2400" b="1" dirty="0"/>
              <a:t>customize your resume and cover letter</a:t>
            </a:r>
            <a:r>
              <a:rPr lang="en-US" sz="2400" dirty="0"/>
              <a:t> to the job posting requirements and employer needs.</a:t>
            </a:r>
            <a:endParaRPr lang="en-US" sz="2400" b="1" dirty="0">
              <a:solidFill>
                <a:srgbClr val="589278"/>
              </a:solidFill>
            </a:endParaRP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1A4C3-C207-9396-1863-2D8F715DE0C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3F4A33-5A24-1716-36EE-5F056C754715}"/>
              </a:ext>
            </a:extLst>
          </p:cNvPr>
          <p:cNvSpPr txBox="1">
            <a:spLocks/>
          </p:cNvSpPr>
          <p:nvPr/>
        </p:nvSpPr>
        <p:spPr>
          <a:xfrm>
            <a:off x="812880" y="3382647"/>
            <a:ext cx="6473700" cy="3179626"/>
          </a:xfrm>
          <a:prstGeom prst="rect">
            <a:avLst/>
          </a:prstGeom>
        </p:spPr>
        <p:txBody>
          <a:bodyPr/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Tx/>
              <a:buNone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§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589278"/>
                </a:solidFill>
              </a:rPr>
              <a:t>Co-op jobs that require applications through HireAC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Employers will not be able to view student submissions until after the closing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You may cancel, update and resubmit your application any time before the deadline.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Once the deadline passes, employers will receive an application bundle for review, and the system will not accept further submissions.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F8CBD5-8A53-6EE0-7944-D9E6523BE33D}"/>
              </a:ext>
            </a:extLst>
          </p:cNvPr>
          <p:cNvSpPr txBox="1">
            <a:spLocks/>
          </p:cNvSpPr>
          <p:nvPr/>
        </p:nvSpPr>
        <p:spPr>
          <a:xfrm>
            <a:off x="8128793" y="3363686"/>
            <a:ext cx="6878978" cy="3179626"/>
          </a:xfrm>
          <a:prstGeom prst="rect">
            <a:avLst/>
          </a:prstGeom>
        </p:spPr>
        <p:txBody>
          <a:bodyPr/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Tx/>
              <a:buNone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§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589278"/>
                </a:solidFill>
              </a:rPr>
              <a:t>Co-op jobs that require applications through the Employer Website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application </a:t>
            </a:r>
            <a:r>
              <a:rPr lang="en-US" sz="2400" b="1" dirty="0"/>
              <a:t>deadline is set and managed by the employer.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You may need to create an account with that employer to submit your job application. Follow the steps indicated by the employer to create and submit your job applications.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Use the </a:t>
            </a:r>
            <a:r>
              <a:rPr lang="en-US" sz="2400" b="1" dirty="0"/>
              <a:t>Apply button </a:t>
            </a:r>
            <a:r>
              <a:rPr lang="en-US" sz="2400" dirty="0"/>
              <a:t>to follow the application link and track the job in your HireAC record.</a:t>
            </a:r>
          </a:p>
        </p:txBody>
      </p:sp>
    </p:spTree>
    <p:extLst>
      <p:ext uri="{BB962C8B-B14F-4D97-AF65-F5344CB8AC3E}">
        <p14:creationId xmlns:p14="http://schemas.microsoft.com/office/powerpoint/2010/main" val="134872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3307</TotalTime>
  <Words>694</Words>
  <Application>Microsoft Office PowerPoint</Application>
  <PresentationFormat>Custom</PresentationFormat>
  <Paragraphs>74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HireAC</vt:lpstr>
      <vt:lpstr>HireAC Guide Sections</vt:lpstr>
      <vt:lpstr>6. Co-op Job Postings Page in HireAC</vt:lpstr>
      <vt:lpstr>PowerPoint Presentation</vt:lpstr>
      <vt:lpstr>Viewing and Applying for Co-op Jobs</vt:lpstr>
      <vt:lpstr>Applying for Co-op jobs through HireAC</vt:lpstr>
      <vt:lpstr>Creating an Application Package in HireAC</vt:lpstr>
      <vt:lpstr>Applying for jobs through the Employer Website</vt:lpstr>
      <vt:lpstr>Important Notes on Job Applications in HireAC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229</cp:revision>
  <dcterms:created xsi:type="dcterms:W3CDTF">2016-12-21T16:02:28Z</dcterms:created>
  <dcterms:modified xsi:type="dcterms:W3CDTF">2025-08-26T01:46:55Z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