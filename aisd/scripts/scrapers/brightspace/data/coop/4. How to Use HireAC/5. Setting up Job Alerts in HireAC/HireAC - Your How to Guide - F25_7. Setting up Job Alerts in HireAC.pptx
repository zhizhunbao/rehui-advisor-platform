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36" r:id="rId5"/>
    <p:sldId id="365" r:id="rId6"/>
    <p:sldId id="394" r:id="rId7"/>
    <p:sldId id="402" r:id="rId8"/>
    <p:sldId id="403" r:id="rId9"/>
    <p:sldId id="404" r:id="rId10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040"/>
    <a:srgbClr val="006643"/>
    <a:srgbClr val="589278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73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C272F-9B16-8F8A-DE3D-2F07CCA8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3FC73-497F-3D10-54DC-EBB005F6F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5E462-8042-3A76-2D5F-C89C3BB9C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FDDA7-5527-F34E-4433-36D277EE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6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67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1200" cap="none" spc="0" normalizeH="0" baseline="0" noProof="0">
              <a:ln>
                <a:noFill/>
              </a:ln>
              <a:solidFill>
                <a:srgbClr val="423F3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3100" b="0" i="0" u="none" strike="noStrike" kern="1200" cap="none" spc="0" normalizeH="0" baseline="0" noProof="0">
                <a:ln>
                  <a:noFill/>
                </a:ln>
                <a:solidFill>
                  <a:srgbClr val="423F3F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8/25/2025</a:t>
            </a:fld>
            <a:endParaRPr kumimoji="0" lang="en-US" sz="3100" b="0" i="0" u="none" strike="noStrike" kern="1200" cap="none" spc="0" normalizeH="0" baseline="0" noProof="0">
              <a:ln>
                <a:noFill/>
              </a:ln>
              <a:solidFill>
                <a:srgbClr val="423F3F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96B7A6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781583" rtl="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CA" sz="2100" b="1" i="0" u="none" strike="noStrike" kern="1200" cap="none" spc="-5" normalizeH="0" baseline="0" noProof="0" smtClean="0">
                <a:ln>
                  <a:noFill/>
                </a:ln>
                <a:solidFill>
                  <a:srgbClr val="96B7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CA" sz="2100" b="1" i="0" u="none" strike="noStrike" kern="1200" cap="none" spc="-5" normalizeH="0" baseline="0" noProof="0" dirty="0">
              <a:ln>
                <a:noFill/>
              </a:ln>
              <a:solidFill>
                <a:srgbClr val="96B7A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925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  <p:sldLayoutId id="2147483708" r:id="rId40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0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0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A48A-841E-B27C-B591-82902245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09FA-9302-6373-E7AA-A8FFACF43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059516"/>
            <a:ext cx="9931320" cy="1816101"/>
          </a:xfrm>
        </p:spPr>
        <p:txBody>
          <a:bodyPr/>
          <a:lstStyle/>
          <a:p>
            <a:r>
              <a:rPr lang="en-US" dirty="0"/>
              <a:t>7. Setting up Job Alerts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51E2F-AA54-24B9-0E9A-BA699D1C8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80" y="4083762"/>
            <a:ext cx="11123305" cy="2000250"/>
          </a:xfrm>
        </p:spPr>
        <p:txBody>
          <a:bodyPr/>
          <a:lstStyle/>
          <a:p>
            <a:r>
              <a:rPr lang="en-US" dirty="0"/>
              <a:t>Be notified as soon as a job is posted for your program!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72DED-D66C-4ACF-0177-33083D3C90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7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ED7D-773A-E002-5A08-1ACF614A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B06-38DC-0E35-A9F5-7EC556BA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Search Postings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F5684-26BC-76ED-B1F9-5DC19437DE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95105"/>
            <a:ext cx="5245020" cy="550376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/>
              <a:t>Go to HireAC, Cooperative Education module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/>
              <a:t>Click on the </a:t>
            </a:r>
            <a:r>
              <a:rPr lang="en-US" sz="2800" b="1" dirty="0"/>
              <a:t>Co-op</a:t>
            </a:r>
            <a:r>
              <a:rPr lang="en-US" sz="2800" dirty="0"/>
              <a:t> </a:t>
            </a:r>
            <a:r>
              <a:rPr lang="en-US" sz="2800" b="1" dirty="0"/>
              <a:t>Job Posting</a:t>
            </a:r>
            <a:r>
              <a:rPr lang="en-US" sz="2800" dirty="0"/>
              <a:t> tab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/>
              <a:t>Select </a:t>
            </a:r>
            <a:r>
              <a:rPr lang="en-US" sz="2800" b="1" dirty="0"/>
              <a:t>Search Postings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38383-9A59-6285-97AD-64D08C9CA8F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80A1C-81BE-E2BB-A13A-8521A11FCDE5}"/>
              </a:ext>
            </a:extLst>
          </p:cNvPr>
          <p:cNvPicPr/>
          <p:nvPr/>
        </p:nvPicPr>
        <p:blipFill rotWithShape="1">
          <a:blip r:embed="rId3"/>
          <a:srcRect l="-1" t="28257" r="74735" b="13406"/>
          <a:stretch>
            <a:fillRect/>
          </a:stretch>
        </p:blipFill>
        <p:spPr bwMode="auto">
          <a:xfrm>
            <a:off x="7331529" y="1795105"/>
            <a:ext cx="7907553" cy="5136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ounded Rectangle 11">
            <a:extLst>
              <a:ext uri="{FF2B5EF4-FFF2-40B4-BE49-F238E27FC236}">
                <a16:creationId xmlns:a16="http://schemas.microsoft.com/office/drawing/2014/main" id="{7D1C2B90-9AEF-99D4-C7EC-EC40CFE6DF42}"/>
              </a:ext>
            </a:extLst>
          </p:cNvPr>
          <p:cNvSpPr/>
          <p:nvPr/>
        </p:nvSpPr>
        <p:spPr>
          <a:xfrm>
            <a:off x="6689244" y="3110819"/>
            <a:ext cx="551077" cy="54298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3459438D-395D-92B0-E683-9829ACA99478}"/>
              </a:ext>
            </a:extLst>
          </p:cNvPr>
          <p:cNvSpPr/>
          <p:nvPr/>
        </p:nvSpPr>
        <p:spPr>
          <a:xfrm>
            <a:off x="6689245" y="2389647"/>
            <a:ext cx="551077" cy="54298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3A2F4706-82C0-3350-4B31-3D64CCFC0ED7}"/>
              </a:ext>
            </a:extLst>
          </p:cNvPr>
          <p:cNvSpPr/>
          <p:nvPr/>
        </p:nvSpPr>
        <p:spPr>
          <a:xfrm>
            <a:off x="12870355" y="2839324"/>
            <a:ext cx="551077" cy="54298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673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A15A-7C8B-08F7-9313-5A38487F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7A570D-9A8A-D4B9-CA58-6F0E31AE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94" y="5190456"/>
            <a:ext cx="6171688" cy="3476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F700693-5E79-BD7E-3E9A-7BCEB81239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975" y="595313"/>
            <a:ext cx="12193032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Using the Advanced Search option</a:t>
            </a:r>
            <a:endParaRPr spc="-5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BF4C302-FB3A-FFC0-9BEC-0BBA57EBAFB3}"/>
              </a:ext>
            </a:extLst>
          </p:cNvPr>
          <p:cNvSpPr txBox="1"/>
          <p:nvPr/>
        </p:nvSpPr>
        <p:spPr>
          <a:xfrm>
            <a:off x="12749532" y="2462456"/>
            <a:ext cx="2444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78158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3100" b="0" i="0" u="none" strike="noStrike" kern="1200" cap="none" spc="0" normalizeH="0" baseline="0" noProof="0" dirty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1547DAD-849B-EEA5-D3A0-8CDF2F1C0BB9}"/>
              </a:ext>
            </a:extLst>
          </p:cNvPr>
          <p:cNvSpPr txBox="1"/>
          <p:nvPr/>
        </p:nvSpPr>
        <p:spPr>
          <a:xfrm>
            <a:off x="161774" y="8585795"/>
            <a:ext cx="46233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F15EBC-F889-E59F-05FD-EE849DEB7824}"/>
              </a:ext>
            </a:extLst>
          </p:cNvPr>
          <p:cNvSpPr txBox="1"/>
          <p:nvPr/>
        </p:nvSpPr>
        <p:spPr>
          <a:xfrm>
            <a:off x="800975" y="1551324"/>
            <a:ext cx="14204982" cy="386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0000"/>
              </a:lnSpc>
              <a:buClr>
                <a:srgbClr val="589278"/>
              </a:buClr>
              <a:buFont typeface="+mj-lt"/>
              <a:buAutoNum type="arabicPeriod"/>
            </a:pPr>
            <a:r>
              <a:rPr lang="en-US" sz="2400" dirty="0"/>
              <a:t>This will bring you to the </a:t>
            </a:r>
            <a:r>
              <a:rPr lang="en-US" sz="2400" b="1" dirty="0"/>
              <a:t>Advanced Search </a:t>
            </a:r>
            <a:r>
              <a:rPr lang="en-US" sz="2400" dirty="0"/>
              <a:t>option. Search jobs using various options available in the form.</a:t>
            </a:r>
          </a:p>
          <a:p>
            <a:pPr marL="1238783" lvl="1" indent="-457200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 typeface="+mj-lt"/>
              <a:buAutoNum type="alphaLcPeriod"/>
            </a:pPr>
            <a:r>
              <a:rPr lang="en-US" sz="2400" b="1" dirty="0">
                <a:solidFill>
                  <a:schemeClr val="accent5"/>
                </a:solidFill>
              </a:rPr>
              <a:t>Company Info: </a:t>
            </a:r>
            <a:r>
              <a:rPr lang="en-US" sz="2400" dirty="0">
                <a:solidFill>
                  <a:schemeClr val="accent5"/>
                </a:solidFill>
              </a:rPr>
              <a:t>Search jobs posted by a specific employer. E.g. Canada Revenue Agency</a:t>
            </a:r>
          </a:p>
          <a:p>
            <a:pPr marL="1238783" lvl="1" indent="-457200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 typeface="+mj-lt"/>
              <a:buAutoNum type="alphaLcPeriod"/>
            </a:pPr>
            <a:r>
              <a:rPr lang="en-US" sz="2400" b="1" dirty="0">
                <a:solidFill>
                  <a:schemeClr val="accent5"/>
                </a:solidFill>
              </a:rPr>
              <a:t>Job Posting Information: </a:t>
            </a:r>
            <a:r>
              <a:rPr lang="en-US" sz="2400" dirty="0">
                <a:solidFill>
                  <a:schemeClr val="accent5"/>
                </a:solidFill>
              </a:rPr>
              <a:t>Use keywords to search for jobs that align with the skills you want to develop. Alternatively, select your scheduled Co-op work term under </a:t>
            </a:r>
            <a:r>
              <a:rPr lang="en-US" sz="2400" b="1" dirty="0">
                <a:solidFill>
                  <a:schemeClr val="accent5"/>
                </a:solidFill>
              </a:rPr>
              <a:t>'Term Posted</a:t>
            </a:r>
            <a:r>
              <a:rPr lang="en-US" sz="2400" dirty="0">
                <a:solidFill>
                  <a:schemeClr val="accent5"/>
                </a:solidFill>
              </a:rPr>
              <a:t>' to set up notifications for all newly posted opportunities.</a:t>
            </a:r>
          </a:p>
          <a:p>
            <a:pPr marL="457200" indent="-457200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5"/>
                </a:solidFill>
              </a:rPr>
              <a:t>Click </a:t>
            </a:r>
            <a:r>
              <a:rPr lang="en-US" sz="2400" b="1" dirty="0">
                <a:solidFill>
                  <a:schemeClr val="accent5"/>
                </a:solidFill>
              </a:rPr>
              <a:t>Advanced Search </a:t>
            </a:r>
            <a:r>
              <a:rPr lang="en-US" sz="2400" dirty="0">
                <a:solidFill>
                  <a:schemeClr val="accent5"/>
                </a:solidFill>
              </a:rPr>
              <a:t>this will bring up all the jobs that fit your criteria.</a:t>
            </a:r>
            <a:br>
              <a:rPr lang="en-US" sz="2000" dirty="0">
                <a:solidFill>
                  <a:schemeClr val="accent5"/>
                </a:solidFill>
              </a:rPr>
            </a:b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E79C6-95AB-13AE-834D-579F14CD7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7625" y="5262786"/>
            <a:ext cx="4886013" cy="3476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3A1D6DD-4486-5A9D-B16B-A062CCE4EF36}"/>
              </a:ext>
            </a:extLst>
          </p:cNvPr>
          <p:cNvSpPr/>
          <p:nvPr/>
        </p:nvSpPr>
        <p:spPr>
          <a:xfrm>
            <a:off x="8128794" y="5190456"/>
            <a:ext cx="4620738" cy="957876"/>
          </a:xfrm>
          <a:prstGeom prst="rect">
            <a:avLst/>
          </a:prstGeom>
          <a:noFill/>
          <a:ln w="57150">
            <a:solidFill>
              <a:srgbClr val="1E6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98652-0ED5-4D95-A3D6-633A09FAB410}"/>
              </a:ext>
            </a:extLst>
          </p:cNvPr>
          <p:cNvSpPr/>
          <p:nvPr/>
        </p:nvSpPr>
        <p:spPr>
          <a:xfrm>
            <a:off x="2470025" y="7207965"/>
            <a:ext cx="3077335" cy="1340722"/>
          </a:xfrm>
          <a:prstGeom prst="rect">
            <a:avLst/>
          </a:prstGeom>
          <a:noFill/>
          <a:ln w="57150">
            <a:solidFill>
              <a:srgbClr val="1E6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A004F1-B330-3D69-F3EA-84551F995697}"/>
              </a:ext>
            </a:extLst>
          </p:cNvPr>
          <p:cNvSpPr/>
          <p:nvPr/>
        </p:nvSpPr>
        <p:spPr>
          <a:xfrm>
            <a:off x="8128794" y="7645555"/>
            <a:ext cx="6171688" cy="903132"/>
          </a:xfrm>
          <a:prstGeom prst="rect">
            <a:avLst/>
          </a:prstGeom>
          <a:noFill/>
          <a:ln w="57150">
            <a:solidFill>
              <a:srgbClr val="1E6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A7FB-E7B1-549B-13D7-90253225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A74A53-338E-50D4-C7E4-BDB5B39DD9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975" y="595313"/>
            <a:ext cx="12193032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Set Up Automatic Email Alerts</a:t>
            </a:r>
            <a:endParaRPr spc="-5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BB656A7-F632-8574-4DFD-F3A0DF440908}"/>
              </a:ext>
            </a:extLst>
          </p:cNvPr>
          <p:cNvSpPr txBox="1"/>
          <p:nvPr/>
        </p:nvSpPr>
        <p:spPr>
          <a:xfrm>
            <a:off x="12749532" y="2462456"/>
            <a:ext cx="24447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781583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3100" b="0" i="0" u="none" strike="noStrike" kern="1200" cap="none" spc="0" normalizeH="0" baseline="0" noProof="0" dirty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C3F56C4B-A605-A2E4-446B-C7097C6293FA}"/>
              </a:ext>
            </a:extLst>
          </p:cNvPr>
          <p:cNvSpPr txBox="1"/>
          <p:nvPr/>
        </p:nvSpPr>
        <p:spPr>
          <a:xfrm>
            <a:off x="161774" y="8585795"/>
            <a:ext cx="46233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781583" rtl="0" eaLnBrk="1" fontAlgn="auto" latinLnBrk="0" hangingPunct="1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781583" rtl="0" eaLnBrk="1" fontAlgn="auto" latinLnBrk="0" hangingPunct="1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423F3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A5F0CA-BEAC-7D85-5337-815768282DB7}"/>
              </a:ext>
            </a:extLst>
          </p:cNvPr>
          <p:cNvSpPr txBox="1"/>
          <p:nvPr/>
        </p:nvSpPr>
        <p:spPr>
          <a:xfrm>
            <a:off x="800975" y="1551324"/>
            <a:ext cx="14204982" cy="3926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Tx/>
              <a:buAutoNum type="arabicPeriod"/>
            </a:pPr>
            <a:r>
              <a:rPr lang="en-US" sz="2400" dirty="0">
                <a:solidFill>
                  <a:schemeClr val="accent5"/>
                </a:solidFill>
              </a:rPr>
              <a:t>On the top of the next page, click on </a:t>
            </a:r>
            <a:r>
              <a:rPr lang="en-US" sz="2400" b="1" dirty="0">
                <a:solidFill>
                  <a:schemeClr val="accent5"/>
                </a:solidFill>
              </a:rPr>
              <a:t>Save Search for Email Alerts. </a:t>
            </a:r>
            <a:r>
              <a:rPr lang="en-US" sz="2400" dirty="0">
                <a:solidFill>
                  <a:schemeClr val="accent5"/>
                </a:solidFill>
              </a:rPr>
              <a:t>This will bring a pop-up box, and it will prompt you to name your search. 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Tx/>
              <a:buAutoNum type="arabicPeriod"/>
            </a:pPr>
            <a:r>
              <a:rPr lang="en-US" sz="2400" dirty="0">
                <a:solidFill>
                  <a:schemeClr val="accent5"/>
                </a:solidFill>
              </a:rPr>
              <a:t>Use as much description as possible to help you remember what your search result is</a:t>
            </a:r>
          </a:p>
          <a:p>
            <a:pPr marL="1295934" lvl="2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lphaLcPeriod"/>
            </a:pPr>
            <a:r>
              <a:rPr lang="en-US" sz="2400" dirty="0">
                <a:solidFill>
                  <a:schemeClr val="accent5"/>
                </a:solidFill>
              </a:rPr>
              <a:t>E.g.: Winter 2026 Co-op jobs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Tx/>
              <a:buAutoNum type="arabicPeriod"/>
            </a:pPr>
            <a:r>
              <a:rPr lang="en-US" sz="2400" dirty="0">
                <a:solidFill>
                  <a:schemeClr val="accent5"/>
                </a:solidFill>
              </a:rPr>
              <a:t>In addition, </a:t>
            </a:r>
            <a:r>
              <a:rPr lang="en-US" sz="2400" b="1" dirty="0">
                <a:solidFill>
                  <a:schemeClr val="accent5"/>
                </a:solidFill>
              </a:rPr>
              <a:t>check the box to receive an email </a:t>
            </a:r>
            <a:r>
              <a:rPr lang="en-US" sz="2400" dirty="0">
                <a:solidFill>
                  <a:schemeClr val="accent5"/>
                </a:solidFill>
              </a:rPr>
              <a:t>when jobs that match your criteria are added to HireAC, and press </a:t>
            </a:r>
            <a:r>
              <a:rPr lang="en-US" sz="2400" b="1" dirty="0">
                <a:solidFill>
                  <a:schemeClr val="accent5"/>
                </a:solidFill>
              </a:rPr>
              <a:t>Save</a:t>
            </a:r>
            <a:r>
              <a:rPr lang="en-US" sz="2400" dirty="0">
                <a:solidFill>
                  <a:schemeClr val="accent5"/>
                </a:solidFill>
              </a:rPr>
              <a:t>. Email alerts about new jobs will be sent to your Algonquin Live email.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sz="2400" b="1" dirty="0">
                <a:solidFill>
                  <a:srgbClr val="589278"/>
                </a:solidFill>
              </a:rPr>
              <a:t>Note: </a:t>
            </a:r>
            <a:r>
              <a:rPr lang="en-US" sz="2400" dirty="0">
                <a:solidFill>
                  <a:schemeClr val="accent5"/>
                </a:solidFill>
              </a:rPr>
              <a:t>You can set up multiple job alerts in your Co-op record to reflect the variety of roles that interest you.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F93C9C-9E63-8DDE-1621-7C99D3A14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4469" y="5477783"/>
            <a:ext cx="3698291" cy="2937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0F3813-D2D0-2262-57C3-7A7E6E349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7611" y="6005608"/>
            <a:ext cx="5391150" cy="2409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11CE6592-CC0F-A5C0-E734-5CBEB13BA1ED}"/>
              </a:ext>
            </a:extLst>
          </p:cNvPr>
          <p:cNvSpPr/>
          <p:nvPr/>
        </p:nvSpPr>
        <p:spPr>
          <a:xfrm>
            <a:off x="13833675" y="6616565"/>
            <a:ext cx="601659" cy="59282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221F4739-04B9-CCE8-3F00-7D89F40329E7}"/>
              </a:ext>
            </a:extLst>
          </p:cNvPr>
          <p:cNvSpPr/>
          <p:nvPr/>
        </p:nvSpPr>
        <p:spPr>
          <a:xfrm>
            <a:off x="5753848" y="6023736"/>
            <a:ext cx="601659" cy="59282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Rounded Rectangle 30">
            <a:extLst>
              <a:ext uri="{FF2B5EF4-FFF2-40B4-BE49-F238E27FC236}">
                <a16:creationId xmlns:a16="http://schemas.microsoft.com/office/drawing/2014/main" id="{39820C97-3B7D-ADD5-1D42-748F343D9BA0}"/>
              </a:ext>
            </a:extLst>
          </p:cNvPr>
          <p:cNvSpPr/>
          <p:nvPr/>
        </p:nvSpPr>
        <p:spPr>
          <a:xfrm>
            <a:off x="11349554" y="7666302"/>
            <a:ext cx="601659" cy="592829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71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2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3321</TotalTime>
  <Words>361</Words>
  <Application>Microsoft Office PowerPoint</Application>
  <PresentationFormat>Custom</PresentationFormat>
  <Paragraphs>50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HireAC</vt:lpstr>
      <vt:lpstr>HireAC Guide Sections</vt:lpstr>
      <vt:lpstr>7. Setting up Job Alerts in HireAC</vt:lpstr>
      <vt:lpstr>Search Postings in HireAC</vt:lpstr>
      <vt:lpstr>Using the Advanced Search option</vt:lpstr>
      <vt:lpstr>Set Up Automatic Email Alerts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227</cp:revision>
  <dcterms:created xsi:type="dcterms:W3CDTF">2016-12-21T16:02:28Z</dcterms:created>
  <dcterms:modified xsi:type="dcterms:W3CDTF">2025-08-26T02:19:08Z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