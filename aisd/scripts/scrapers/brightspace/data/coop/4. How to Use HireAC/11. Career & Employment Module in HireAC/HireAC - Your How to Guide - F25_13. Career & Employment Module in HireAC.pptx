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6" r:id="rId5"/>
    <p:sldId id="365" r:id="rId6"/>
    <p:sldId id="397" r:id="rId7"/>
    <p:sldId id="367" r:id="rId8"/>
    <p:sldId id="368" r:id="rId9"/>
    <p:sldId id="369" r:id="rId10"/>
    <p:sldId id="405" r:id="rId11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589278"/>
    <a:srgbClr val="1E6040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67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1200" cap="none" spc="0" normalizeH="0" baseline="0" noProof="0">
              <a:ln>
                <a:noFill/>
              </a:ln>
              <a:solidFill>
                <a:srgbClr val="423F3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3100" b="0" i="0" u="none" strike="noStrike" kern="1200" cap="none" spc="0" normalizeH="0" baseline="0" noProof="0">
                <a:ln>
                  <a:noFill/>
                </a:ln>
                <a:solidFill>
                  <a:srgbClr val="423F3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8/24/2025</a:t>
            </a:fld>
            <a:endParaRPr kumimoji="0" lang="en-US" sz="3100" b="0" i="0" u="none" strike="noStrike" kern="1200" cap="none" spc="0" normalizeH="0" baseline="0" noProof="0">
              <a:ln>
                <a:noFill/>
              </a:ln>
              <a:solidFill>
                <a:srgbClr val="423F3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96B7A6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781583" rtl="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CA" sz="2100" b="1" i="0" u="none" strike="noStrike" kern="1200" cap="none" spc="-5" normalizeH="0" baseline="0" noProof="0" smtClean="0">
                <a:ln>
                  <a:noFill/>
                </a:ln>
                <a:solidFill>
                  <a:srgbClr val="96B7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CA" sz="2100" b="1" i="0" u="none" strike="noStrike" kern="1200" cap="none" spc="-5" normalizeH="0" baseline="0" noProof="0" dirty="0">
              <a:ln>
                <a:noFill/>
              </a:ln>
              <a:solidFill>
                <a:srgbClr val="96B7A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925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  <p:sldLayoutId id="2147483708" r:id="rId40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gonquincollege.com/studentsupportservices/careeradvising-bookanappointment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1A6A-91F4-B026-CB66-70F956B7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AA7C-A11B-6653-7CF1-C05F3597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Career &amp; Employment Module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2EA5C-0237-25EB-7471-A3E5541F7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80" y="4083762"/>
            <a:ext cx="11123305" cy="2000250"/>
          </a:xfrm>
        </p:spPr>
        <p:txBody>
          <a:bodyPr/>
          <a:lstStyle/>
          <a:p>
            <a:r>
              <a:rPr lang="en-US" dirty="0"/>
              <a:t>View and Apply for Full-time, Part-time, and Summer Jobs in a Variety of Industries 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7CA70-39CF-C6BC-1DEC-07D2476468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01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975" y="595313"/>
            <a:ext cx="12193032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Career &amp; Employment Module in HireAC</a:t>
            </a:r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161775" y="8585795"/>
            <a:ext cx="44238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975" y="1956497"/>
            <a:ext cx="7510268" cy="74901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5"/>
                </a:solidFill>
              </a:rPr>
              <a:t>Go to the </a:t>
            </a:r>
            <a:r>
              <a:rPr lang="en-US" sz="2400" b="1" dirty="0">
                <a:solidFill>
                  <a:schemeClr val="accent5"/>
                </a:solidFill>
              </a:rPr>
              <a:t>Career &amp; Employment </a:t>
            </a:r>
            <a:r>
              <a:rPr lang="en-US" sz="2400" dirty="0">
                <a:solidFill>
                  <a:schemeClr val="accent5"/>
                </a:solidFill>
              </a:rPr>
              <a:t>module</a:t>
            </a:r>
            <a:endParaRPr lang="en-US" sz="2400" b="1" dirty="0">
              <a:solidFill>
                <a:schemeClr val="accent5"/>
              </a:solidFill>
            </a:endParaRPr>
          </a:p>
          <a:p>
            <a:pPr marL="457200" indent="-45720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AutoNum type="arabicPeriod"/>
            </a:pPr>
            <a:r>
              <a:rPr lang="en-US" sz="2400" dirty="0">
                <a:solidFill>
                  <a:schemeClr val="accent5"/>
                </a:solidFill>
                <a:cs typeface="Arial"/>
              </a:rPr>
              <a:t>Select </a:t>
            </a:r>
            <a:r>
              <a:rPr lang="en-US" sz="2400" b="1" dirty="0">
                <a:solidFill>
                  <a:schemeClr val="accent5"/>
                </a:solidFill>
                <a:cs typeface="Arial"/>
              </a:rPr>
              <a:t>Job Postings </a:t>
            </a:r>
            <a:r>
              <a:rPr lang="en-US" sz="2400" dirty="0">
                <a:solidFill>
                  <a:schemeClr val="accent5"/>
                </a:solidFill>
                <a:cs typeface="Arial"/>
              </a:rPr>
              <a:t>to view jobs that are open to all Algonquin College students.</a:t>
            </a:r>
          </a:p>
          <a:p>
            <a:pPr marL="1295933" lvl="1" indent="-51435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lphaLcPeriod"/>
            </a:pPr>
            <a:r>
              <a:rPr lang="en-US" sz="2400" dirty="0">
                <a:solidFill>
                  <a:schemeClr val="accent5"/>
                </a:solidFill>
                <a:cs typeface="Arial"/>
              </a:rPr>
              <a:t>These jobs are full-time, part-time, and summer employment postings in a variety of industries and career fields</a:t>
            </a:r>
          </a:p>
          <a:p>
            <a:pPr marL="1295933" lvl="1" indent="-51435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lphaLcPeriod"/>
            </a:pPr>
            <a:r>
              <a:rPr lang="en-US" sz="2400" dirty="0">
                <a:solidFill>
                  <a:schemeClr val="accent5"/>
                </a:solidFill>
                <a:cs typeface="Arial"/>
              </a:rPr>
              <a:t>Access on-campus CSEP (College Student Employment Program) positions that are part of Algonquin’s Work Study Program.</a:t>
            </a:r>
          </a:p>
          <a:p>
            <a:pPr marL="457200" indent="-45720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Tx/>
              <a:buAutoNum type="arabicPeriod"/>
            </a:pPr>
            <a:r>
              <a:rPr lang="en-US" sz="2400" dirty="0">
                <a:solidFill>
                  <a:schemeClr val="accent5"/>
                </a:solidFill>
                <a:cs typeface="Arial"/>
              </a:rPr>
              <a:t>The options in the </a:t>
            </a:r>
            <a:r>
              <a:rPr lang="en-US" sz="2400" b="1" dirty="0">
                <a:solidFill>
                  <a:schemeClr val="accent5"/>
                </a:solidFill>
                <a:cs typeface="Arial"/>
              </a:rPr>
              <a:t>Quick Searches </a:t>
            </a:r>
            <a:r>
              <a:rPr lang="en-US" sz="2400" dirty="0">
                <a:solidFill>
                  <a:schemeClr val="accent5"/>
                </a:solidFill>
                <a:cs typeface="Arial"/>
              </a:rPr>
              <a:t>menu will show you the number of jobs that you have viewed, new postings and those that will be closing soon.</a:t>
            </a:r>
          </a:p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endParaRPr lang="en-US" sz="2400" dirty="0">
              <a:solidFill>
                <a:schemeClr val="accent5"/>
              </a:solidFill>
              <a:cs typeface="Arial"/>
            </a:endParaRP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3A4C510-0B85-2913-51BA-BEEC52A1B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227"/>
          <a:stretch>
            <a:fillRect/>
          </a:stretch>
        </p:blipFill>
        <p:spPr>
          <a:xfrm>
            <a:off x="8637814" y="1956497"/>
            <a:ext cx="6635693" cy="6198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805F10-E90E-DD95-B290-B5546D764A67}"/>
              </a:ext>
            </a:extLst>
          </p:cNvPr>
          <p:cNvSpPr/>
          <p:nvPr/>
        </p:nvSpPr>
        <p:spPr>
          <a:xfrm>
            <a:off x="8637814" y="3718254"/>
            <a:ext cx="2225233" cy="532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51140-CAC2-BE0F-1631-B03FA7ED493F}"/>
              </a:ext>
            </a:extLst>
          </p:cNvPr>
          <p:cNvSpPr/>
          <p:nvPr/>
        </p:nvSpPr>
        <p:spPr>
          <a:xfrm>
            <a:off x="11556296" y="4414940"/>
            <a:ext cx="2225233" cy="532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2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974" y="627365"/>
            <a:ext cx="15086725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Searching jobs using the Career &amp; Employment module </a:t>
            </a:r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161775" y="8585795"/>
            <a:ext cx="22479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975" y="2500006"/>
            <a:ext cx="7098425" cy="33663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accent5"/>
                </a:solidFill>
              </a:rPr>
              <a:t>You can create tailored saved searches</a:t>
            </a:r>
            <a:endParaRPr lang="en-US" sz="2800" b="1" dirty="0">
              <a:solidFill>
                <a:schemeClr val="accent5"/>
              </a:solidFill>
              <a:cs typeface="Arial"/>
            </a:endParaRPr>
          </a:p>
          <a:p>
            <a:pPr marL="457200" indent="-45720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AutoNum type="arabicPeriod"/>
            </a:pPr>
            <a:r>
              <a:rPr lang="en-US" sz="2800" dirty="0">
                <a:solidFill>
                  <a:schemeClr val="accent5"/>
                </a:solidFill>
                <a:cs typeface="Arial"/>
              </a:rPr>
              <a:t>Search for jobs by Job ID </a:t>
            </a:r>
            <a:endParaRPr lang="en-US" sz="3200" dirty="0"/>
          </a:p>
          <a:p>
            <a:pPr marL="457200" indent="-45720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Tx/>
              <a:buAutoNum type="arabicPeriod"/>
            </a:pPr>
            <a:r>
              <a:rPr lang="en-US" sz="2800" dirty="0">
                <a:solidFill>
                  <a:schemeClr val="accent5"/>
                </a:solidFill>
                <a:cs typeface="Arial"/>
              </a:rPr>
              <a:t>Manage your list of saved search and email notifications.</a:t>
            </a:r>
          </a:p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endParaRPr lang="en-US" sz="2400" dirty="0">
              <a:solidFill>
                <a:schemeClr val="accent5"/>
              </a:solidFill>
              <a:cs typeface="Arial"/>
            </a:endParaRPr>
          </a:p>
        </p:txBody>
      </p:sp>
      <p:sp>
        <p:nvSpPr>
          <p:cNvPr id="5" name="Rounded Rectangle 24">
            <a:extLst>
              <a:ext uri="{FF2B5EF4-FFF2-40B4-BE49-F238E27FC236}">
                <a16:creationId xmlns:a16="http://schemas.microsoft.com/office/drawing/2014/main" id="{75AA7381-3393-F289-4A00-8A69DDFD623E}"/>
              </a:ext>
            </a:extLst>
          </p:cNvPr>
          <p:cNvSpPr/>
          <p:nvPr/>
        </p:nvSpPr>
        <p:spPr>
          <a:xfrm>
            <a:off x="8040293" y="3792657"/>
            <a:ext cx="459484" cy="512458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BF1E644A-822B-1FA3-808C-99A59306EFBD}"/>
              </a:ext>
            </a:extLst>
          </p:cNvPr>
          <p:cNvSpPr/>
          <p:nvPr/>
        </p:nvSpPr>
        <p:spPr>
          <a:xfrm>
            <a:off x="8038085" y="5997191"/>
            <a:ext cx="560440" cy="530942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E83D77BD-9FF2-E863-BD99-4C89EEB02C24}"/>
              </a:ext>
            </a:extLst>
          </p:cNvPr>
          <p:cNvSpPr/>
          <p:nvPr/>
        </p:nvSpPr>
        <p:spPr>
          <a:xfrm>
            <a:off x="8034456" y="7408986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3" name="Picture 2" descr="A screenshot of a search box&#10;&#10;Description automatically generated">
            <a:extLst>
              <a:ext uri="{FF2B5EF4-FFF2-40B4-BE49-F238E27FC236}">
                <a16:creationId xmlns:a16="http://schemas.microsoft.com/office/drawing/2014/main" id="{963C4D14-B095-8A43-AA4D-87BDDCE3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760" y="2519047"/>
            <a:ext cx="6151615" cy="5917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805F10-E90E-DD95-B290-B5546D764A67}"/>
              </a:ext>
            </a:extLst>
          </p:cNvPr>
          <p:cNvSpPr/>
          <p:nvPr/>
        </p:nvSpPr>
        <p:spPr>
          <a:xfrm>
            <a:off x="9060254" y="3729622"/>
            <a:ext cx="3498589" cy="6385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5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975" y="595313"/>
            <a:ext cx="12193032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Documents and Job Applications  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1775" y="8585795"/>
            <a:ext cx="22479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975" y="1956497"/>
            <a:ext cx="7098425" cy="70425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</a:rPr>
              <a:t>Use the Documents and Applications pages to upload your resumes and cover letter, submit and t</a:t>
            </a:r>
            <a:r>
              <a:rPr lang="en-US" sz="2800" dirty="0">
                <a:solidFill>
                  <a:schemeClr val="accent5"/>
                </a:solidFill>
                <a:cs typeface="Arial"/>
              </a:rPr>
              <a:t>rack your job applications. </a:t>
            </a:r>
          </a:p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cs typeface="Arial"/>
              </a:rPr>
              <a:t>Application method preferred by the employer will be listed in the job posting. </a:t>
            </a:r>
          </a:p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cs typeface="Arial"/>
              </a:rPr>
              <a:t>Most of the jobs posted in the Career &amp; Employment module of HireAC will require you to apply for opportunities using the employer website.</a:t>
            </a:r>
          </a:p>
          <a:p>
            <a:pPr marL="457200" indent="-457200">
              <a:lnSpc>
                <a:spcPct val="113999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Tx/>
              <a:buAutoNum type="arabicPeriod"/>
            </a:pPr>
            <a:endParaRPr lang="en-US" sz="2400" dirty="0">
              <a:solidFill>
                <a:schemeClr val="accent5"/>
              </a:solidFill>
              <a:cs typeface="Arial"/>
            </a:endParaRPr>
          </a:p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endParaRPr lang="en-US" sz="2400" dirty="0">
              <a:solidFill>
                <a:schemeClr val="accent5"/>
              </a:solidFill>
              <a:cs typeface="Arial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9B0F7B5-F5E2-17F5-AA4B-D6BF5DFD7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021" y="1956497"/>
            <a:ext cx="5047486" cy="3524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805F10-E90E-DD95-B290-B5546D764A67}"/>
              </a:ext>
            </a:extLst>
          </p:cNvPr>
          <p:cNvSpPr/>
          <p:nvPr/>
        </p:nvSpPr>
        <p:spPr>
          <a:xfrm>
            <a:off x="9728021" y="3886590"/>
            <a:ext cx="1506036" cy="416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73E1AA7-2647-54C8-1B55-0839210B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568" y="4840718"/>
            <a:ext cx="5222702" cy="39833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C8EAC9-164A-900E-2EF3-201E4FB6299C}"/>
              </a:ext>
            </a:extLst>
          </p:cNvPr>
          <p:cNvSpPr/>
          <p:nvPr/>
        </p:nvSpPr>
        <p:spPr>
          <a:xfrm>
            <a:off x="9101674" y="7187503"/>
            <a:ext cx="1675183" cy="344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8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4BBE-061B-D544-DCD9-10CAD8644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7B11E8-BD01-157F-AC84-2B012BCC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672925" cy="1335973"/>
          </a:xfrm>
        </p:spPr>
        <p:txBody>
          <a:bodyPr/>
          <a:lstStyle/>
          <a:p>
            <a:r>
              <a:rPr lang="en-US" dirty="0"/>
              <a:t>Book an Appointment with a Career Advisor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EDC0F4-A64E-BB30-6C4F-3B3945831FC3}"/>
              </a:ext>
            </a:extLst>
          </p:cNvPr>
          <p:cNvSpPr txBox="1">
            <a:spLocks/>
          </p:cNvSpPr>
          <p:nvPr/>
        </p:nvSpPr>
        <p:spPr>
          <a:xfrm>
            <a:off x="812880" y="2100124"/>
            <a:ext cx="14209406" cy="4982847"/>
          </a:xfrm>
          <a:prstGeom prst="rect">
            <a:avLst/>
          </a:prstGeom>
        </p:spPr>
        <p:txBody>
          <a:bodyPr/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§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Receive support in your post-Co-op career search by accessing the job and career readiness support and resources for students and graduates with the Student Support Services.  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 online and in-person career services to learn how to increase your employability skills and make meaningful connections with employers.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To book an appointment with a Career Advisor please visit: </a:t>
            </a:r>
            <a:r>
              <a:rPr lang="en-US" sz="2800" u="sng" dirty="0">
                <a:hlinkClick r:id="rId2"/>
              </a:rPr>
              <a:t>Book a Career Advising Appointment</a:t>
            </a: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303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3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3288</TotalTime>
  <Words>372</Words>
  <Application>Microsoft Office PowerPoint</Application>
  <PresentationFormat>Custom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HireAC</vt:lpstr>
      <vt:lpstr>HireAC Guide Sections</vt:lpstr>
      <vt:lpstr>13. Career &amp; Employment Module in HireAC</vt:lpstr>
      <vt:lpstr>Career &amp; Employment Module in HireAC</vt:lpstr>
      <vt:lpstr>Searching jobs using the Career &amp; Employment module </vt:lpstr>
      <vt:lpstr>Documents and Job Applications  </vt:lpstr>
      <vt:lpstr>Book an Appointment with a Career Advisor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226</cp:revision>
  <dcterms:created xsi:type="dcterms:W3CDTF">2016-12-21T16:02:28Z</dcterms:created>
  <dcterms:modified xsi:type="dcterms:W3CDTF">2025-08-24T17:34:37Z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