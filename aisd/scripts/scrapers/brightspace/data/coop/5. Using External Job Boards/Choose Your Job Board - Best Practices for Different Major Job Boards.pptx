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513" r:id="rId6"/>
    <p:sldId id="515" r:id="rId7"/>
    <p:sldId id="514" r:id="rId8"/>
    <p:sldId id="629" r:id="rId9"/>
    <p:sldId id="516" r:id="rId10"/>
    <p:sldId id="529" r:id="rId11"/>
    <p:sldId id="636" r:id="rId12"/>
    <p:sldId id="637" r:id="rId13"/>
    <p:sldId id="638" r:id="rId14"/>
    <p:sldId id="517" r:id="rId15"/>
    <p:sldId id="640" r:id="rId16"/>
    <p:sldId id="641" r:id="rId17"/>
    <p:sldId id="648" r:id="rId18"/>
    <p:sldId id="518" r:id="rId19"/>
    <p:sldId id="642" r:id="rId20"/>
    <p:sldId id="646" r:id="rId21"/>
    <p:sldId id="643" r:id="rId22"/>
    <p:sldId id="644" r:id="rId23"/>
    <p:sldId id="647" r:id="rId24"/>
    <p:sldId id="519" r:id="rId25"/>
    <p:sldId id="528" r:id="rId26"/>
    <p:sldId id="628" r:id="rId27"/>
  </p:sldIdLst>
  <p:sldSz cx="16257588" cy="9144000"/>
  <p:notesSz cx="7010400" cy="92964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cia Gibson" initials="AG" lastIdx="1" clrIdx="0">
    <p:extLst>
      <p:ext uri="{19B8F6BF-5375-455C-9EA6-DF929625EA0E}">
        <p15:presenceInfo xmlns:p15="http://schemas.microsoft.com/office/powerpoint/2012/main" userId="S-1-5-21-1989483694-326399252-943750798-27452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9278"/>
    <a:srgbClr val="267A52"/>
    <a:srgbClr val="00673E"/>
    <a:srgbClr val="6E6B6B"/>
    <a:srgbClr val="7AC143"/>
    <a:srgbClr val="43B02A"/>
    <a:srgbClr val="006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9AEAB-1D03-490A-8F8C-BD75FE4A7250}" v="118" dt="2025-08-05T21:03:46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869" y="50"/>
      </p:cViewPr>
      <p:guideLst>
        <p:guide orient="horz" pos="2880"/>
        <p:guide pos="512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771214-2155-46CC-850C-D2E0E4F21CC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E6058F5-CF55-4D77-B503-0FEAD871036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2000" baseline="0"/>
            <a:t>Submit a </a:t>
          </a:r>
          <a:r>
            <a:rPr lang="en-CA" sz="2000" b="1" baseline="0"/>
            <a:t>PDF</a:t>
          </a:r>
          <a:r>
            <a:rPr lang="en-CA" sz="2000" baseline="0"/>
            <a:t> version of your resume for each application</a:t>
          </a:r>
          <a:endParaRPr lang="en-US" sz="2000"/>
        </a:p>
      </dgm:t>
    </dgm:pt>
    <dgm:pt modelId="{1F3707D3-BD75-4D33-B68C-5598FF25F73C}" type="parTrans" cxnId="{7B7C195F-4A51-4929-BBD3-DCF69AF09867}">
      <dgm:prSet/>
      <dgm:spPr/>
      <dgm:t>
        <a:bodyPr/>
        <a:lstStyle/>
        <a:p>
          <a:endParaRPr lang="en-US"/>
        </a:p>
      </dgm:t>
    </dgm:pt>
    <dgm:pt modelId="{093BD6F8-E2ED-4D9F-B9FB-AE666FE2DE9B}" type="sibTrans" cxnId="{7B7C195F-4A51-4929-BBD3-DCF69AF09867}">
      <dgm:prSet/>
      <dgm:spPr/>
      <dgm:t>
        <a:bodyPr/>
        <a:lstStyle/>
        <a:p>
          <a:endParaRPr lang="en-US"/>
        </a:p>
      </dgm:t>
    </dgm:pt>
    <dgm:pt modelId="{926C1BB4-FB99-490A-8D96-402F06A0814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E96CF71-E86A-4A89-ACF9-C377D581F9BE}" type="parTrans" cxnId="{90A61E87-90FB-43EA-AC44-857656CE1752}">
      <dgm:prSet/>
      <dgm:spPr/>
      <dgm:t>
        <a:bodyPr/>
        <a:lstStyle/>
        <a:p>
          <a:endParaRPr lang="en-US"/>
        </a:p>
      </dgm:t>
    </dgm:pt>
    <dgm:pt modelId="{9196CB31-9EDF-433A-BD52-DE786B60015C}" type="sibTrans" cxnId="{90A61E87-90FB-43EA-AC44-857656CE1752}">
      <dgm:prSet/>
      <dgm:spPr/>
      <dgm:t>
        <a:bodyPr/>
        <a:lstStyle/>
        <a:p>
          <a:endParaRPr lang="en-US"/>
        </a:p>
      </dgm:t>
    </dgm:pt>
    <dgm:pt modelId="{17493DC3-31E5-4842-AAF5-3C2D949F14D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aseline="0"/>
            <a:t>Try to apply through the company’s website where possible </a:t>
          </a:r>
          <a:endParaRPr lang="en-US"/>
        </a:p>
      </dgm:t>
    </dgm:pt>
    <dgm:pt modelId="{3949EFE9-2A9B-4330-9D4A-8690CBEC3859}" type="parTrans" cxnId="{8906550A-433B-47F0-8AB8-DFDA09604C21}">
      <dgm:prSet/>
      <dgm:spPr/>
      <dgm:t>
        <a:bodyPr/>
        <a:lstStyle/>
        <a:p>
          <a:endParaRPr lang="en-US"/>
        </a:p>
      </dgm:t>
    </dgm:pt>
    <dgm:pt modelId="{7BE002FC-444C-4B24-AD73-4DFD570028B1}" type="sibTrans" cxnId="{8906550A-433B-47F0-8AB8-DFDA09604C21}">
      <dgm:prSet/>
      <dgm:spPr/>
      <dgm:t>
        <a:bodyPr/>
        <a:lstStyle/>
        <a:p>
          <a:endParaRPr lang="en-US"/>
        </a:p>
      </dgm:t>
    </dgm:pt>
    <dgm:pt modelId="{D4A92ACA-C357-45D8-A29F-16B7D80F20E5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aseline="0"/>
            <a:t>Volume and applying early are key</a:t>
          </a:r>
          <a:endParaRPr lang="en-US"/>
        </a:p>
      </dgm:t>
    </dgm:pt>
    <dgm:pt modelId="{F252D2AC-23D2-4D09-A1A9-F24418B321A1}" type="parTrans" cxnId="{706F56F7-4C8F-458F-A9FD-F12847E9FCC2}">
      <dgm:prSet/>
      <dgm:spPr/>
      <dgm:t>
        <a:bodyPr/>
        <a:lstStyle/>
        <a:p>
          <a:endParaRPr lang="en-US"/>
        </a:p>
      </dgm:t>
    </dgm:pt>
    <dgm:pt modelId="{0814AD80-17D3-4F69-A143-426FD0F66669}" type="sibTrans" cxnId="{706F56F7-4C8F-458F-A9FD-F12847E9FCC2}">
      <dgm:prSet/>
      <dgm:spPr/>
      <dgm:t>
        <a:bodyPr/>
        <a:lstStyle/>
        <a:p>
          <a:endParaRPr lang="en-US"/>
        </a:p>
      </dgm:t>
    </dgm:pt>
    <dgm:pt modelId="{6933F108-FC3E-4FE9-A23C-F82B457F038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aseline="0"/>
            <a:t>Avoid placement / temporary agency postings – these will likely not work for co-op jobs</a:t>
          </a:r>
          <a:endParaRPr lang="en-US"/>
        </a:p>
      </dgm:t>
    </dgm:pt>
    <dgm:pt modelId="{B3EE68E9-C92F-4059-828B-6E9E5D7D38AC}" type="parTrans" cxnId="{9F592794-8339-44AC-93CA-A793664FA96E}">
      <dgm:prSet/>
      <dgm:spPr/>
      <dgm:t>
        <a:bodyPr/>
        <a:lstStyle/>
        <a:p>
          <a:endParaRPr lang="en-US"/>
        </a:p>
      </dgm:t>
    </dgm:pt>
    <dgm:pt modelId="{2265FCB4-3901-4A79-BCC8-C60C17C5B4E7}" type="sibTrans" cxnId="{9F592794-8339-44AC-93CA-A793664FA96E}">
      <dgm:prSet/>
      <dgm:spPr/>
      <dgm:t>
        <a:bodyPr/>
        <a:lstStyle/>
        <a:p>
          <a:endParaRPr lang="en-US"/>
        </a:p>
      </dgm:t>
    </dgm:pt>
    <dgm:pt modelId="{A4BC5322-5FAC-4788-A0E9-6EA98E6C2230}" type="pres">
      <dgm:prSet presAssocID="{71771214-2155-46CC-850C-D2E0E4F21CCF}" presName="root" presStyleCnt="0">
        <dgm:presLayoutVars>
          <dgm:dir/>
          <dgm:resizeHandles val="exact"/>
        </dgm:presLayoutVars>
      </dgm:prSet>
      <dgm:spPr/>
    </dgm:pt>
    <dgm:pt modelId="{A7325757-DDE8-4C4F-ACD7-9021D18904A1}" type="pres">
      <dgm:prSet presAssocID="{3E6058F5-CF55-4D77-B503-0FEAD871036C}" presName="compNode" presStyleCnt="0"/>
      <dgm:spPr/>
    </dgm:pt>
    <dgm:pt modelId="{DED8EBEE-BA2F-464C-A263-B6AF28C3E1FB}" type="pres">
      <dgm:prSet presAssocID="{3E6058F5-CF55-4D77-B503-0FEAD871036C}" presName="bgRect" presStyleLbl="bgShp" presStyleIdx="0" presStyleCnt="4"/>
      <dgm:spPr/>
    </dgm:pt>
    <dgm:pt modelId="{1570B2AC-A3EA-46A8-AA1F-4B89E50234C8}" type="pres">
      <dgm:prSet presAssocID="{3E6058F5-CF55-4D77-B503-0FEAD871036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599548F-D63F-4319-9639-D5453FBD57D7}" type="pres">
      <dgm:prSet presAssocID="{3E6058F5-CF55-4D77-B503-0FEAD871036C}" presName="spaceRect" presStyleCnt="0"/>
      <dgm:spPr/>
    </dgm:pt>
    <dgm:pt modelId="{54E0C1D6-4DAD-45D0-B51B-3969D5064B26}" type="pres">
      <dgm:prSet presAssocID="{3E6058F5-CF55-4D77-B503-0FEAD871036C}" presName="parTx" presStyleLbl="revTx" presStyleIdx="0" presStyleCnt="5" custScaleX="152433" custLinFactNeighborX="26837">
        <dgm:presLayoutVars>
          <dgm:chMax val="0"/>
          <dgm:chPref val="0"/>
        </dgm:presLayoutVars>
      </dgm:prSet>
      <dgm:spPr/>
    </dgm:pt>
    <dgm:pt modelId="{6C1910C8-B54B-4D30-A6DD-CE548E01397D}" type="pres">
      <dgm:prSet presAssocID="{3E6058F5-CF55-4D77-B503-0FEAD871036C}" presName="desTx" presStyleLbl="revTx" presStyleIdx="1" presStyleCnt="5" custLinFactNeighborX="15220" custLinFactNeighborY="14472">
        <dgm:presLayoutVars/>
      </dgm:prSet>
      <dgm:spPr/>
    </dgm:pt>
    <dgm:pt modelId="{FB2BEF05-BAB4-432F-8954-2D9C68D0B1B1}" type="pres">
      <dgm:prSet presAssocID="{093BD6F8-E2ED-4D9F-B9FB-AE666FE2DE9B}" presName="sibTrans" presStyleCnt="0"/>
      <dgm:spPr/>
    </dgm:pt>
    <dgm:pt modelId="{AA4A827C-281A-4D39-9B6F-1FDADE384A08}" type="pres">
      <dgm:prSet presAssocID="{17493DC3-31E5-4842-AAF5-3C2D949F14D7}" presName="compNode" presStyleCnt="0"/>
      <dgm:spPr/>
    </dgm:pt>
    <dgm:pt modelId="{27584BF8-A93D-4BE8-87B9-69E65AB25EDA}" type="pres">
      <dgm:prSet presAssocID="{17493DC3-31E5-4842-AAF5-3C2D949F14D7}" presName="bgRect" presStyleLbl="bgShp" presStyleIdx="1" presStyleCnt="4"/>
      <dgm:spPr/>
    </dgm:pt>
    <dgm:pt modelId="{0AAAA8A4-5318-4A1C-82F6-7B30EC46AF4F}" type="pres">
      <dgm:prSet presAssocID="{17493DC3-31E5-4842-AAF5-3C2D949F14D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 with solid fill"/>
        </a:ext>
      </dgm:extLst>
    </dgm:pt>
    <dgm:pt modelId="{A269402C-2DB1-4C99-9D23-6B8C0C9C268D}" type="pres">
      <dgm:prSet presAssocID="{17493DC3-31E5-4842-AAF5-3C2D949F14D7}" presName="spaceRect" presStyleCnt="0"/>
      <dgm:spPr/>
    </dgm:pt>
    <dgm:pt modelId="{38E6FA43-2A9E-4A15-8C52-42ECC4306C91}" type="pres">
      <dgm:prSet presAssocID="{17493DC3-31E5-4842-AAF5-3C2D949F14D7}" presName="parTx" presStyleLbl="revTx" presStyleIdx="2" presStyleCnt="5">
        <dgm:presLayoutVars>
          <dgm:chMax val="0"/>
          <dgm:chPref val="0"/>
        </dgm:presLayoutVars>
      </dgm:prSet>
      <dgm:spPr/>
    </dgm:pt>
    <dgm:pt modelId="{C4166AC4-3402-4770-9523-74A94988B138}" type="pres">
      <dgm:prSet presAssocID="{7BE002FC-444C-4B24-AD73-4DFD570028B1}" presName="sibTrans" presStyleCnt="0"/>
      <dgm:spPr/>
    </dgm:pt>
    <dgm:pt modelId="{9D74C419-C373-483C-9040-2257BCDFF4D0}" type="pres">
      <dgm:prSet presAssocID="{D4A92ACA-C357-45D8-A29F-16B7D80F20E5}" presName="compNode" presStyleCnt="0"/>
      <dgm:spPr/>
    </dgm:pt>
    <dgm:pt modelId="{924FF6F0-4ECE-4239-A060-4BF6D50E23C0}" type="pres">
      <dgm:prSet presAssocID="{D4A92ACA-C357-45D8-A29F-16B7D80F20E5}" presName="bgRect" presStyleLbl="bgShp" presStyleIdx="2" presStyleCnt="4"/>
      <dgm:spPr/>
    </dgm:pt>
    <dgm:pt modelId="{6433AD2D-FF7C-4021-85AC-C75AE41BE455}" type="pres">
      <dgm:prSet presAssocID="{D4A92ACA-C357-45D8-A29F-16B7D80F20E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 with solid fill"/>
        </a:ext>
      </dgm:extLst>
    </dgm:pt>
    <dgm:pt modelId="{D98FE4F7-5BB6-465A-B31F-05F3B603C55E}" type="pres">
      <dgm:prSet presAssocID="{D4A92ACA-C357-45D8-A29F-16B7D80F20E5}" presName="spaceRect" presStyleCnt="0"/>
      <dgm:spPr/>
    </dgm:pt>
    <dgm:pt modelId="{2C5FAB4F-9F56-4A3B-901D-05B6BD94057A}" type="pres">
      <dgm:prSet presAssocID="{D4A92ACA-C357-45D8-A29F-16B7D80F20E5}" presName="parTx" presStyleLbl="revTx" presStyleIdx="3" presStyleCnt="5">
        <dgm:presLayoutVars>
          <dgm:chMax val="0"/>
          <dgm:chPref val="0"/>
        </dgm:presLayoutVars>
      </dgm:prSet>
      <dgm:spPr/>
    </dgm:pt>
    <dgm:pt modelId="{D2E9BCA8-360D-4B72-9B4D-6F228D8A21C6}" type="pres">
      <dgm:prSet presAssocID="{0814AD80-17D3-4F69-A143-426FD0F66669}" presName="sibTrans" presStyleCnt="0"/>
      <dgm:spPr/>
    </dgm:pt>
    <dgm:pt modelId="{2F7E05AC-9B30-40B5-B3F2-401FAD310D01}" type="pres">
      <dgm:prSet presAssocID="{6933F108-FC3E-4FE9-A23C-F82B457F0383}" presName="compNode" presStyleCnt="0"/>
      <dgm:spPr/>
    </dgm:pt>
    <dgm:pt modelId="{0E782213-55B9-487D-9C29-A21E91064D36}" type="pres">
      <dgm:prSet presAssocID="{6933F108-FC3E-4FE9-A23C-F82B457F0383}" presName="bgRect" presStyleLbl="bgShp" presStyleIdx="3" presStyleCnt="4"/>
      <dgm:spPr/>
    </dgm:pt>
    <dgm:pt modelId="{B9540E1F-18C0-40F0-8A8C-B8DE896C092D}" type="pres">
      <dgm:prSet presAssocID="{6933F108-FC3E-4FE9-A23C-F82B457F038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3B3CE026-B342-484E-A62C-25E8D3597507}" type="pres">
      <dgm:prSet presAssocID="{6933F108-FC3E-4FE9-A23C-F82B457F0383}" presName="spaceRect" presStyleCnt="0"/>
      <dgm:spPr/>
    </dgm:pt>
    <dgm:pt modelId="{67E5DCC2-B485-470E-BE8B-ED358B31EC3F}" type="pres">
      <dgm:prSet presAssocID="{6933F108-FC3E-4FE9-A23C-F82B457F038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906550A-433B-47F0-8AB8-DFDA09604C21}" srcId="{71771214-2155-46CC-850C-D2E0E4F21CCF}" destId="{17493DC3-31E5-4842-AAF5-3C2D949F14D7}" srcOrd="1" destOrd="0" parTransId="{3949EFE9-2A9B-4330-9D4A-8690CBEC3859}" sibTransId="{7BE002FC-444C-4B24-AD73-4DFD570028B1}"/>
    <dgm:cxn modelId="{D84C2E0F-93E1-402C-B699-0CD940BCAE8F}" type="presOf" srcId="{17493DC3-31E5-4842-AAF5-3C2D949F14D7}" destId="{38E6FA43-2A9E-4A15-8C52-42ECC4306C91}" srcOrd="0" destOrd="0" presId="urn:microsoft.com/office/officeart/2018/2/layout/IconVerticalSolidList"/>
    <dgm:cxn modelId="{7B7C195F-4A51-4929-BBD3-DCF69AF09867}" srcId="{71771214-2155-46CC-850C-D2E0E4F21CCF}" destId="{3E6058F5-CF55-4D77-B503-0FEAD871036C}" srcOrd="0" destOrd="0" parTransId="{1F3707D3-BD75-4D33-B68C-5598FF25F73C}" sibTransId="{093BD6F8-E2ED-4D9F-B9FB-AE666FE2DE9B}"/>
    <dgm:cxn modelId="{3C6DFC7A-D439-4954-A8E5-FE30A8DFBCE4}" type="presOf" srcId="{D4A92ACA-C357-45D8-A29F-16B7D80F20E5}" destId="{2C5FAB4F-9F56-4A3B-901D-05B6BD94057A}" srcOrd="0" destOrd="0" presId="urn:microsoft.com/office/officeart/2018/2/layout/IconVerticalSolidList"/>
    <dgm:cxn modelId="{90A61E87-90FB-43EA-AC44-857656CE1752}" srcId="{3E6058F5-CF55-4D77-B503-0FEAD871036C}" destId="{926C1BB4-FB99-490A-8D96-402F06A08148}" srcOrd="0" destOrd="0" parTransId="{2E96CF71-E86A-4A89-ACF9-C377D581F9BE}" sibTransId="{9196CB31-9EDF-433A-BD52-DE786B60015C}"/>
    <dgm:cxn modelId="{8B91298C-B0CF-4F9D-B3E1-ADE86FAF34B7}" type="presOf" srcId="{6933F108-FC3E-4FE9-A23C-F82B457F0383}" destId="{67E5DCC2-B485-470E-BE8B-ED358B31EC3F}" srcOrd="0" destOrd="0" presId="urn:microsoft.com/office/officeart/2018/2/layout/IconVerticalSolidList"/>
    <dgm:cxn modelId="{9F592794-8339-44AC-93CA-A793664FA96E}" srcId="{71771214-2155-46CC-850C-D2E0E4F21CCF}" destId="{6933F108-FC3E-4FE9-A23C-F82B457F0383}" srcOrd="3" destOrd="0" parTransId="{B3EE68E9-C92F-4059-828B-6E9E5D7D38AC}" sibTransId="{2265FCB4-3901-4A79-BCC8-C60C17C5B4E7}"/>
    <dgm:cxn modelId="{53A337B9-1DF4-4167-9E00-4F78DD9FF176}" type="presOf" srcId="{71771214-2155-46CC-850C-D2E0E4F21CCF}" destId="{A4BC5322-5FAC-4788-A0E9-6EA98E6C2230}" srcOrd="0" destOrd="0" presId="urn:microsoft.com/office/officeart/2018/2/layout/IconVerticalSolidList"/>
    <dgm:cxn modelId="{6717D3D9-F8E1-48A9-B20E-E1A76EA6E008}" type="presOf" srcId="{926C1BB4-FB99-490A-8D96-402F06A08148}" destId="{6C1910C8-B54B-4D30-A6DD-CE548E01397D}" srcOrd="0" destOrd="0" presId="urn:microsoft.com/office/officeart/2018/2/layout/IconVerticalSolidList"/>
    <dgm:cxn modelId="{FDF9EAED-4CAE-47FC-9703-762E931ABA0D}" type="presOf" srcId="{3E6058F5-CF55-4D77-B503-0FEAD871036C}" destId="{54E0C1D6-4DAD-45D0-B51B-3969D5064B26}" srcOrd="0" destOrd="0" presId="urn:microsoft.com/office/officeart/2018/2/layout/IconVerticalSolidList"/>
    <dgm:cxn modelId="{706F56F7-4C8F-458F-A9FD-F12847E9FCC2}" srcId="{71771214-2155-46CC-850C-D2E0E4F21CCF}" destId="{D4A92ACA-C357-45D8-A29F-16B7D80F20E5}" srcOrd="2" destOrd="0" parTransId="{F252D2AC-23D2-4D09-A1A9-F24418B321A1}" sibTransId="{0814AD80-17D3-4F69-A143-426FD0F66669}"/>
    <dgm:cxn modelId="{8594ED79-2C9A-4E3A-BCC8-684F8FB7DB38}" type="presParOf" srcId="{A4BC5322-5FAC-4788-A0E9-6EA98E6C2230}" destId="{A7325757-DDE8-4C4F-ACD7-9021D18904A1}" srcOrd="0" destOrd="0" presId="urn:microsoft.com/office/officeart/2018/2/layout/IconVerticalSolidList"/>
    <dgm:cxn modelId="{AB2126E0-A43B-4AEB-868D-183CADB4196B}" type="presParOf" srcId="{A7325757-DDE8-4C4F-ACD7-9021D18904A1}" destId="{DED8EBEE-BA2F-464C-A263-B6AF28C3E1FB}" srcOrd="0" destOrd="0" presId="urn:microsoft.com/office/officeart/2018/2/layout/IconVerticalSolidList"/>
    <dgm:cxn modelId="{494C44A2-A1A2-4B52-A94D-98DCD8E2C079}" type="presParOf" srcId="{A7325757-DDE8-4C4F-ACD7-9021D18904A1}" destId="{1570B2AC-A3EA-46A8-AA1F-4B89E50234C8}" srcOrd="1" destOrd="0" presId="urn:microsoft.com/office/officeart/2018/2/layout/IconVerticalSolidList"/>
    <dgm:cxn modelId="{4A757DE1-8833-4C06-BE2B-66DC2A2CB224}" type="presParOf" srcId="{A7325757-DDE8-4C4F-ACD7-9021D18904A1}" destId="{A599548F-D63F-4319-9639-D5453FBD57D7}" srcOrd="2" destOrd="0" presId="urn:microsoft.com/office/officeart/2018/2/layout/IconVerticalSolidList"/>
    <dgm:cxn modelId="{409ABC26-4FDB-4803-9ED9-ED1FF20E7CC9}" type="presParOf" srcId="{A7325757-DDE8-4C4F-ACD7-9021D18904A1}" destId="{54E0C1D6-4DAD-45D0-B51B-3969D5064B26}" srcOrd="3" destOrd="0" presId="urn:microsoft.com/office/officeart/2018/2/layout/IconVerticalSolidList"/>
    <dgm:cxn modelId="{B6D14934-CE39-4D8A-ACF2-168BC52B4410}" type="presParOf" srcId="{A7325757-DDE8-4C4F-ACD7-9021D18904A1}" destId="{6C1910C8-B54B-4D30-A6DD-CE548E01397D}" srcOrd="4" destOrd="0" presId="urn:microsoft.com/office/officeart/2018/2/layout/IconVerticalSolidList"/>
    <dgm:cxn modelId="{C59769EC-6BDC-4DAA-9160-86735F7D2EF9}" type="presParOf" srcId="{A4BC5322-5FAC-4788-A0E9-6EA98E6C2230}" destId="{FB2BEF05-BAB4-432F-8954-2D9C68D0B1B1}" srcOrd="1" destOrd="0" presId="urn:microsoft.com/office/officeart/2018/2/layout/IconVerticalSolidList"/>
    <dgm:cxn modelId="{F56FD129-574C-4747-B24E-4E673AF6D2D1}" type="presParOf" srcId="{A4BC5322-5FAC-4788-A0E9-6EA98E6C2230}" destId="{AA4A827C-281A-4D39-9B6F-1FDADE384A08}" srcOrd="2" destOrd="0" presId="urn:microsoft.com/office/officeart/2018/2/layout/IconVerticalSolidList"/>
    <dgm:cxn modelId="{3E266A30-9BE1-44E3-BC3E-8D1A1890CA47}" type="presParOf" srcId="{AA4A827C-281A-4D39-9B6F-1FDADE384A08}" destId="{27584BF8-A93D-4BE8-87B9-69E65AB25EDA}" srcOrd="0" destOrd="0" presId="urn:microsoft.com/office/officeart/2018/2/layout/IconVerticalSolidList"/>
    <dgm:cxn modelId="{C55FAD79-66C6-4ADD-8983-A10C429452C7}" type="presParOf" srcId="{AA4A827C-281A-4D39-9B6F-1FDADE384A08}" destId="{0AAAA8A4-5318-4A1C-82F6-7B30EC46AF4F}" srcOrd="1" destOrd="0" presId="urn:microsoft.com/office/officeart/2018/2/layout/IconVerticalSolidList"/>
    <dgm:cxn modelId="{A98D09DF-CB5E-4FF7-9AD7-19DB31CE29EA}" type="presParOf" srcId="{AA4A827C-281A-4D39-9B6F-1FDADE384A08}" destId="{A269402C-2DB1-4C99-9D23-6B8C0C9C268D}" srcOrd="2" destOrd="0" presId="urn:microsoft.com/office/officeart/2018/2/layout/IconVerticalSolidList"/>
    <dgm:cxn modelId="{8C1A5D3E-50B6-4ACA-8FE9-6E62FD434302}" type="presParOf" srcId="{AA4A827C-281A-4D39-9B6F-1FDADE384A08}" destId="{38E6FA43-2A9E-4A15-8C52-42ECC4306C91}" srcOrd="3" destOrd="0" presId="urn:microsoft.com/office/officeart/2018/2/layout/IconVerticalSolidList"/>
    <dgm:cxn modelId="{01B4ECA7-CFA9-4A99-8725-76434ECCDA7B}" type="presParOf" srcId="{A4BC5322-5FAC-4788-A0E9-6EA98E6C2230}" destId="{C4166AC4-3402-4770-9523-74A94988B138}" srcOrd="3" destOrd="0" presId="urn:microsoft.com/office/officeart/2018/2/layout/IconVerticalSolidList"/>
    <dgm:cxn modelId="{9227717C-A802-45C1-BA4B-9356422C8755}" type="presParOf" srcId="{A4BC5322-5FAC-4788-A0E9-6EA98E6C2230}" destId="{9D74C419-C373-483C-9040-2257BCDFF4D0}" srcOrd="4" destOrd="0" presId="urn:microsoft.com/office/officeart/2018/2/layout/IconVerticalSolidList"/>
    <dgm:cxn modelId="{3563C303-CC7D-470A-A58B-DDEE61D9B8E7}" type="presParOf" srcId="{9D74C419-C373-483C-9040-2257BCDFF4D0}" destId="{924FF6F0-4ECE-4239-A060-4BF6D50E23C0}" srcOrd="0" destOrd="0" presId="urn:microsoft.com/office/officeart/2018/2/layout/IconVerticalSolidList"/>
    <dgm:cxn modelId="{80E26072-F0F6-495D-A628-1D3DEB70AEB4}" type="presParOf" srcId="{9D74C419-C373-483C-9040-2257BCDFF4D0}" destId="{6433AD2D-FF7C-4021-85AC-C75AE41BE455}" srcOrd="1" destOrd="0" presId="urn:microsoft.com/office/officeart/2018/2/layout/IconVerticalSolidList"/>
    <dgm:cxn modelId="{80165FC0-8B7C-4686-BDF8-F44C85A67FB0}" type="presParOf" srcId="{9D74C419-C373-483C-9040-2257BCDFF4D0}" destId="{D98FE4F7-5BB6-465A-B31F-05F3B603C55E}" srcOrd="2" destOrd="0" presId="urn:microsoft.com/office/officeart/2018/2/layout/IconVerticalSolidList"/>
    <dgm:cxn modelId="{2DE9B7EF-62EC-4FFA-AF36-7E6E913D6FAD}" type="presParOf" srcId="{9D74C419-C373-483C-9040-2257BCDFF4D0}" destId="{2C5FAB4F-9F56-4A3B-901D-05B6BD94057A}" srcOrd="3" destOrd="0" presId="urn:microsoft.com/office/officeart/2018/2/layout/IconVerticalSolidList"/>
    <dgm:cxn modelId="{51741E92-D704-440F-8355-00F4932A5C01}" type="presParOf" srcId="{A4BC5322-5FAC-4788-A0E9-6EA98E6C2230}" destId="{D2E9BCA8-360D-4B72-9B4D-6F228D8A21C6}" srcOrd="5" destOrd="0" presId="urn:microsoft.com/office/officeart/2018/2/layout/IconVerticalSolidList"/>
    <dgm:cxn modelId="{4FE3A490-4BDC-4AA1-8CC1-8915C1939F19}" type="presParOf" srcId="{A4BC5322-5FAC-4788-A0E9-6EA98E6C2230}" destId="{2F7E05AC-9B30-40B5-B3F2-401FAD310D01}" srcOrd="6" destOrd="0" presId="urn:microsoft.com/office/officeart/2018/2/layout/IconVerticalSolidList"/>
    <dgm:cxn modelId="{8EE0A2CB-4A38-4F42-9590-3CEE9E65CC05}" type="presParOf" srcId="{2F7E05AC-9B30-40B5-B3F2-401FAD310D01}" destId="{0E782213-55B9-487D-9C29-A21E91064D36}" srcOrd="0" destOrd="0" presId="urn:microsoft.com/office/officeart/2018/2/layout/IconVerticalSolidList"/>
    <dgm:cxn modelId="{45DDA2B9-0670-4067-B13E-CD41A2A3338E}" type="presParOf" srcId="{2F7E05AC-9B30-40B5-B3F2-401FAD310D01}" destId="{B9540E1F-18C0-40F0-8A8C-B8DE896C092D}" srcOrd="1" destOrd="0" presId="urn:microsoft.com/office/officeart/2018/2/layout/IconVerticalSolidList"/>
    <dgm:cxn modelId="{F5E774A1-AB47-4150-9742-C5E35F43B097}" type="presParOf" srcId="{2F7E05AC-9B30-40B5-B3F2-401FAD310D01}" destId="{3B3CE026-B342-484E-A62C-25E8D3597507}" srcOrd="2" destOrd="0" presId="urn:microsoft.com/office/officeart/2018/2/layout/IconVerticalSolidList"/>
    <dgm:cxn modelId="{41ED810A-FD43-4342-9AE4-BCD1FEE5E1FE}" type="presParOf" srcId="{2F7E05AC-9B30-40B5-B3F2-401FAD310D01}" destId="{67E5DCC2-B485-470E-BE8B-ED358B31EC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D8EBEE-BA2F-464C-A263-B6AF28C3E1FB}">
      <dsp:nvSpPr>
        <dsp:cNvPr id="0" name=""/>
        <dsp:cNvSpPr/>
      </dsp:nvSpPr>
      <dsp:spPr>
        <a:xfrm>
          <a:off x="0" y="2357"/>
          <a:ext cx="11049462" cy="11949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70B2AC-A3EA-46A8-AA1F-4B89E50234C8}">
      <dsp:nvSpPr>
        <dsp:cNvPr id="0" name=""/>
        <dsp:cNvSpPr/>
      </dsp:nvSpPr>
      <dsp:spPr>
        <a:xfrm>
          <a:off x="361484" y="271230"/>
          <a:ext cx="657243" cy="6572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0C1D6-4DAD-45D0-B51B-3969D5064B26}">
      <dsp:nvSpPr>
        <dsp:cNvPr id="0" name=""/>
        <dsp:cNvSpPr/>
      </dsp:nvSpPr>
      <dsp:spPr>
        <a:xfrm>
          <a:off x="1411065" y="2357"/>
          <a:ext cx="7579361" cy="119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470" tIns="126470" rIns="126470" bIns="12647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baseline="0"/>
            <a:t>Submit a </a:t>
          </a:r>
          <a:r>
            <a:rPr lang="en-CA" sz="2000" b="1" kern="1200" baseline="0"/>
            <a:t>PDF</a:t>
          </a:r>
          <a:r>
            <a:rPr lang="en-CA" sz="2000" kern="1200" baseline="0"/>
            <a:t> version of your resume for each application</a:t>
          </a:r>
          <a:endParaRPr lang="en-US" sz="2000" kern="1200"/>
        </a:p>
      </dsp:txBody>
      <dsp:txXfrm>
        <a:off x="1411065" y="2357"/>
        <a:ext cx="7579361" cy="1194988"/>
      </dsp:txXfrm>
    </dsp:sp>
    <dsp:sp modelId="{6C1910C8-B54B-4D30-A6DD-CE548E01397D}">
      <dsp:nvSpPr>
        <dsp:cNvPr id="0" name=""/>
        <dsp:cNvSpPr/>
      </dsp:nvSpPr>
      <dsp:spPr>
        <a:xfrm>
          <a:off x="6352470" y="175296"/>
          <a:ext cx="4696991" cy="119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470" tIns="126470" rIns="126470" bIns="1264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352470" y="175296"/>
        <a:ext cx="4696991" cy="1194988"/>
      </dsp:txXfrm>
    </dsp:sp>
    <dsp:sp modelId="{27584BF8-A93D-4BE8-87B9-69E65AB25EDA}">
      <dsp:nvSpPr>
        <dsp:cNvPr id="0" name=""/>
        <dsp:cNvSpPr/>
      </dsp:nvSpPr>
      <dsp:spPr>
        <a:xfrm>
          <a:off x="0" y="1496093"/>
          <a:ext cx="11049462" cy="11949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AA8A4-5318-4A1C-82F6-7B30EC46AF4F}">
      <dsp:nvSpPr>
        <dsp:cNvPr id="0" name=""/>
        <dsp:cNvSpPr/>
      </dsp:nvSpPr>
      <dsp:spPr>
        <a:xfrm>
          <a:off x="361484" y="1764966"/>
          <a:ext cx="657243" cy="6572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6FA43-2A9E-4A15-8C52-42ECC4306C91}">
      <dsp:nvSpPr>
        <dsp:cNvPr id="0" name=""/>
        <dsp:cNvSpPr/>
      </dsp:nvSpPr>
      <dsp:spPr>
        <a:xfrm>
          <a:off x="1380212" y="1496093"/>
          <a:ext cx="9669249" cy="119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470" tIns="126470" rIns="126470" bIns="1264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 baseline="0"/>
            <a:t>Try to apply through the company’s website where possible </a:t>
          </a:r>
          <a:endParaRPr lang="en-US" sz="2200" kern="1200"/>
        </a:p>
      </dsp:txBody>
      <dsp:txXfrm>
        <a:off x="1380212" y="1496093"/>
        <a:ext cx="9669249" cy="1194988"/>
      </dsp:txXfrm>
    </dsp:sp>
    <dsp:sp modelId="{924FF6F0-4ECE-4239-A060-4BF6D50E23C0}">
      <dsp:nvSpPr>
        <dsp:cNvPr id="0" name=""/>
        <dsp:cNvSpPr/>
      </dsp:nvSpPr>
      <dsp:spPr>
        <a:xfrm>
          <a:off x="0" y="2989830"/>
          <a:ext cx="11049462" cy="11949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33AD2D-FF7C-4021-85AC-C75AE41BE455}">
      <dsp:nvSpPr>
        <dsp:cNvPr id="0" name=""/>
        <dsp:cNvSpPr/>
      </dsp:nvSpPr>
      <dsp:spPr>
        <a:xfrm>
          <a:off x="361484" y="3258702"/>
          <a:ext cx="657243" cy="6572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FAB4F-9F56-4A3B-901D-05B6BD94057A}">
      <dsp:nvSpPr>
        <dsp:cNvPr id="0" name=""/>
        <dsp:cNvSpPr/>
      </dsp:nvSpPr>
      <dsp:spPr>
        <a:xfrm>
          <a:off x="1380212" y="2989830"/>
          <a:ext cx="9669249" cy="119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470" tIns="126470" rIns="126470" bIns="1264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 baseline="0"/>
            <a:t>Volume and applying early are key</a:t>
          </a:r>
          <a:endParaRPr lang="en-US" sz="2200" kern="1200"/>
        </a:p>
      </dsp:txBody>
      <dsp:txXfrm>
        <a:off x="1380212" y="2989830"/>
        <a:ext cx="9669249" cy="1194988"/>
      </dsp:txXfrm>
    </dsp:sp>
    <dsp:sp modelId="{0E782213-55B9-487D-9C29-A21E91064D36}">
      <dsp:nvSpPr>
        <dsp:cNvPr id="0" name=""/>
        <dsp:cNvSpPr/>
      </dsp:nvSpPr>
      <dsp:spPr>
        <a:xfrm>
          <a:off x="0" y="4483566"/>
          <a:ext cx="11049462" cy="119498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40E1F-18C0-40F0-8A8C-B8DE896C092D}">
      <dsp:nvSpPr>
        <dsp:cNvPr id="0" name=""/>
        <dsp:cNvSpPr/>
      </dsp:nvSpPr>
      <dsp:spPr>
        <a:xfrm>
          <a:off x="361484" y="4752438"/>
          <a:ext cx="657243" cy="6572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5DCC2-B485-470E-BE8B-ED358B31EC3F}">
      <dsp:nvSpPr>
        <dsp:cNvPr id="0" name=""/>
        <dsp:cNvSpPr/>
      </dsp:nvSpPr>
      <dsp:spPr>
        <a:xfrm>
          <a:off x="1380212" y="4483566"/>
          <a:ext cx="9669249" cy="119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470" tIns="126470" rIns="126470" bIns="1264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 baseline="0"/>
            <a:t>Avoid placement / temporary agency postings – these will likely not work for co-op jobs</a:t>
          </a:r>
          <a:endParaRPr lang="en-US" sz="2200" kern="1200"/>
        </a:p>
      </dsp:txBody>
      <dsp:txXfrm>
        <a:off x="1380212" y="4483566"/>
        <a:ext cx="9669249" cy="1194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030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>
                <a:ea typeface="Calibri"/>
                <a:cs typeface="Calibri"/>
              </a:rPr>
              <a:t>Insights from our Industry Engagement Specialist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81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5B8BE-3434-5DFF-95EE-5675542D0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AFA176-14AD-9773-E3C8-81204B41E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52878-5720-9072-E88D-695595F21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>
                <a:ea typeface="Calibri"/>
                <a:cs typeface="Calibri"/>
              </a:rPr>
              <a:t>Insights from our Industry Engagement Specialist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6772D-49AE-0E7E-6301-DBA240613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19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Overlap with ‘Job Search Outside </a:t>
            </a:r>
            <a:r>
              <a:rPr lang="en-CA" err="1"/>
              <a:t>HireAC</a:t>
            </a:r>
            <a:r>
              <a:rPr lang="en-CA"/>
              <a:t>’ job search term workshop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51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781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/>
              <a:t>Overlap with ‘Job Search Outside </a:t>
            </a:r>
            <a:r>
              <a:rPr lang="en-CA" err="1"/>
              <a:t>HireAC</a:t>
            </a:r>
            <a:r>
              <a:rPr lang="en-CA"/>
              <a:t>’ job search term workshop</a:t>
            </a:r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41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Recommendations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80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73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i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8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63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781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/>
              <a:t>Overlap with ‘Job Search Outside </a:t>
            </a:r>
            <a:r>
              <a:rPr lang="en-CA" err="1"/>
              <a:t>HireAC</a:t>
            </a:r>
            <a:r>
              <a:rPr lang="en-CA"/>
              <a:t>’ job search term workshop</a:t>
            </a:r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64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This is your presentation 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Presentation subtitle or brief one-sentence description.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Month 24th, 2017</a:t>
            </a:r>
            <a:endParaRPr lang="en-US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/>
              <a:t>Chapter or Section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/>
              <a:t>About the Author (1 author)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About the Author (2 authors)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1-column key point text slide</a:t>
            </a:r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/>
              <a:t>An optional annotation or extra information text box</a:t>
            </a:r>
            <a:endParaRPr lang="en-US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An optional annotation or extra information text box</a:t>
            </a:r>
            <a:endParaRPr lang="en-US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2-column key point slide</a:t>
            </a:r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basic 2-column key point text slide with subtitles</a:t>
            </a:r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3-column key point slide</a:t>
            </a:r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3-column key point slide with subtitles</a:t>
            </a:r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6-column key point slide</a:t>
            </a:r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6-point key point slide with subtitles</a:t>
            </a:r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1-column bulk content slide for long content.</a:t>
            </a:r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An optional annotation or extra information text box</a:t>
            </a:r>
            <a:endParaRPr lang="en-US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An optional annotation or extra information text box</a:t>
            </a:r>
            <a:endParaRPr lang="en-US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2-column bulk content slide for long content.</a:t>
            </a:r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3-column bulk content slide for long content.</a:t>
            </a:r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6-point bulk content slide for long content.</a:t>
            </a:r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key numbers slide for short numbers.</a:t>
            </a:r>
            <a:endParaRPr lang="en-US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key numbers slide for long numbers.</a:t>
            </a:r>
            <a:endParaRPr lang="en-US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/>
              <a:t>This is a key point slide with icons to illustrate points.</a:t>
            </a:r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/>
              <a:t>Enter an impressive statistic or fact. e.g. 98% of Algonquin students have been hired immediately after graduation.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/>
              <a:t>THIS IS THE TITLE OF YOUR STATISTIC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/>
              <a:t>THIS IS A SPACE FOR A CITATION OR SOURCE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/>
              <a:t>Enter an impressive statistic or fact. e.g. 98% of Algonquin students have been hired immediately after graduation.</a:t>
            </a:r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THIS IS THE TITLE OF YOUR STATISTIC</a:t>
            </a:r>
            <a:endParaRPr lang="en-US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THIS IS A SPACE FOR A CITATION OR SOURCE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/>
              <a:t>Enter an impressive statistic or fact. e.g. We raised $1,000,000 this year. Highlight a number by making it bold and white.</a:t>
            </a:r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THIS IS THE TITLE OF YOUR STATISTIC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/>
              <a:t>Enter an impressive statistic or fact. e.g. We raised $1,000,000 this year. Highlight a number by making it bold and 100% green.</a:t>
            </a:r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THIS IS THE TITLE OF YOUR STATISTIC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/>
              <a:t>$#,###,###</a:t>
            </a:r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/>
              <a:t>THIS IS THE TITLE OF YOUR STATISTIC</a:t>
            </a:r>
            <a:endParaRPr lang="en-US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THIS IS A SPACE FOR A CITATION OR SOURCE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A slide with a right-aligned image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An optional annotation or extra information text box</a:t>
            </a:r>
            <a:endParaRPr lang="en-US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/>
              <a:t>Optional short caption here</a:t>
            </a:r>
            <a:endParaRPr lang="en-US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/>
              <a:t>Click to edit content. Keep in minimal on key point slides. Bullets are available for hierarchy.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A slide with a left-aligned image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An optional annotation or extra information text box</a:t>
            </a:r>
            <a:endParaRPr lang="en-US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/>
              <a:t>Optional short caption here</a:t>
            </a:r>
            <a:endParaRPr lang="en-US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/>
              <a:t>Optional short caption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/>
              <a:t>Optional short caption here</a:t>
            </a:r>
            <a:endParaRPr lang="en-US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/>
              <a:t>Optional short caption here</a:t>
            </a:r>
            <a:endParaRPr lang="en-US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/>
              <a:t>Optional short caption here</a:t>
            </a:r>
            <a:endParaRPr lang="en-US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An optional annotation or extra information text box</a:t>
            </a:r>
            <a:endParaRPr lang="en-US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graphic slide with a title and optional annotation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An optional annotation or extra information text box</a:t>
            </a:r>
            <a:endParaRPr lang="en-US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This is a chart or table slide with optional annotation</a:t>
            </a:r>
            <a:endParaRPr lang="en-US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/>
              <a:t>An optional annotation or extra information text box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Questions? Put your contact prompt message and your email here.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/>
              <a:t>Thank you message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err="1"/>
              <a:t>www.algonquincollege.com</a:t>
            </a:r>
            <a:r>
              <a:rPr lang="en-CA"/>
              <a:t>/</a:t>
            </a:r>
            <a:r>
              <a:rPr lang="en-CA" err="1"/>
              <a:t>relevantURL</a:t>
            </a:r>
            <a:endParaRPr lang="en-US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First level</a:t>
            </a:r>
          </a:p>
          <a:p>
            <a:pPr lvl="2"/>
            <a:r>
              <a:rPr lang="en-CA"/>
              <a:t>Second level</a:t>
            </a:r>
          </a:p>
          <a:p>
            <a:pPr lvl="0"/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2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jobs.gov.on.ca/Search.aspx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careers.com/" TargetMode="External"/><Relationship Id="rId3" Type="http://schemas.openxmlformats.org/officeDocument/2006/relationships/hyperlink" Target="https://www.glassdoor.ca/Job/index.htm" TargetMode="External"/><Relationship Id="rId7" Type="http://schemas.openxmlformats.org/officeDocument/2006/relationships/hyperlink" Target="https://www.goodwork.ca/" TargetMode="External"/><Relationship Id="rId2" Type="http://schemas.openxmlformats.org/officeDocument/2006/relationships/hyperlink" Target="http://www.charityvillage.com/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jobs.discovertechnata.com/jobs?l=T3R0YXdhLCBPTiwgQ2FuYWRh" TargetMode="External"/><Relationship Id="rId5" Type="http://schemas.openxmlformats.org/officeDocument/2006/relationships/hyperlink" Target="https://www.monster.ca/" TargetMode="External"/><Relationship Id="rId4" Type="http://schemas.openxmlformats.org/officeDocument/2006/relationships/hyperlink" Target="https://www.canadastop100.com/national/" TargetMode="External"/><Relationship Id="rId9" Type="http://schemas.openxmlformats.org/officeDocument/2006/relationships/hyperlink" Target="https://www.engineeringcareers.ca/job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82" y="1716573"/>
            <a:ext cx="10601878" cy="2180690"/>
          </a:xfrm>
        </p:spPr>
        <p:txBody>
          <a:bodyPr/>
          <a:lstStyle/>
          <a:p>
            <a:r>
              <a:rPr lang="en-US"/>
              <a:t>Choose Your Job Board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12881" y="4032727"/>
            <a:ext cx="14758813" cy="2336800"/>
          </a:xfrm>
        </p:spPr>
        <p:txBody>
          <a:bodyPr/>
          <a:lstStyle/>
          <a:p>
            <a:r>
              <a:rPr lang="en-US" sz="4000"/>
              <a:t>Best practices for using LinkedIn, Indeed and Government job boards to look for a co-op job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Summer 2025</a:t>
            </a:r>
          </a:p>
        </p:txBody>
      </p:sp>
    </p:spTree>
    <p:extLst>
      <p:ext uri="{BB962C8B-B14F-4D97-AF65-F5344CB8AC3E}">
        <p14:creationId xmlns:p14="http://schemas.microsoft.com/office/powerpoint/2010/main" val="3695813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36A60-D715-B3EB-1B7C-18F08D86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6B52E27-025F-0CED-4E1A-1A9F481C97BD}"/>
              </a:ext>
            </a:extLst>
          </p:cNvPr>
          <p:cNvSpPr txBox="1"/>
          <p:nvPr/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 rot="0" spcFirstLastPara="0" vertOverflow="overflow" horzOverflow="overflow" vert="horz" lIns="0" tIns="0" rIns="0" bIns="0" numCol="1" spcCol="0" rtlCol="0" fromWordArt="0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75074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50153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25227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00305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75381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250455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25533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00608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583">
              <a:lnSpc>
                <a:spcPct val="90000"/>
              </a:lnSpc>
              <a:spcBef>
                <a:spcPts val="1600"/>
              </a:spcBef>
              <a:buClr>
                <a:schemeClr val="accent2"/>
              </a:buClr>
            </a:pPr>
            <a:r>
              <a:rPr lang="en-CA" sz="2700" b="1" baseline="0">
                <a:solidFill>
                  <a:schemeClr val="accent5"/>
                </a:solidFill>
              </a:rPr>
              <a:t>The job market is not ideal right now:</a:t>
            </a:r>
          </a:p>
          <a:p>
            <a:pPr defTabSz="781583">
              <a:lnSpc>
                <a:spcPct val="90000"/>
              </a:lnSpc>
              <a:spcBef>
                <a:spcPts val="1600"/>
              </a:spcBef>
              <a:buClr>
                <a:schemeClr val="accent2"/>
              </a:buClr>
            </a:pPr>
            <a:endParaRPr lang="en-CA" sz="2700" baseline="0">
              <a:solidFill>
                <a:schemeClr val="accent5"/>
              </a:solidFill>
            </a:endParaRPr>
          </a:p>
          <a:p>
            <a:pPr marL="457200" indent="-457200" defTabSz="781583">
              <a:lnSpc>
                <a:spcPct val="90000"/>
              </a:lnSpc>
              <a:spcBef>
                <a:spcPts val="16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700" baseline="0">
                <a:solidFill>
                  <a:schemeClr val="accent5"/>
                </a:solidFill>
              </a:rPr>
              <a:t>Economy is weak; market uncertainty (tariffs)</a:t>
            </a:r>
          </a:p>
          <a:p>
            <a:pPr marL="457200" indent="-457200" defTabSz="781583">
              <a:lnSpc>
                <a:spcPct val="90000"/>
              </a:lnSpc>
              <a:spcBef>
                <a:spcPts val="16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700" baseline="0">
                <a:solidFill>
                  <a:schemeClr val="accent5"/>
                </a:solidFill>
              </a:rPr>
              <a:t>Government informal freeze of jobs (now at 10%), an all-time low</a:t>
            </a:r>
          </a:p>
          <a:p>
            <a:pPr marL="457200" indent="-457200" defTabSz="781583">
              <a:lnSpc>
                <a:spcPct val="90000"/>
              </a:lnSpc>
              <a:spcBef>
                <a:spcPts val="16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700" baseline="0">
                <a:solidFill>
                  <a:schemeClr val="accent5"/>
                </a:solidFill>
              </a:rPr>
              <a:t>Many private sector (high tech) employers work comes from either federal or US government</a:t>
            </a:r>
          </a:p>
          <a:p>
            <a:pPr marL="457200" indent="-457200" defTabSz="781583">
              <a:lnSpc>
                <a:spcPct val="90000"/>
              </a:lnSpc>
              <a:spcBef>
                <a:spcPts val="16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CA" sz="2700" baseline="0">
                <a:solidFill>
                  <a:schemeClr val="accent5"/>
                </a:solidFill>
              </a:rPr>
              <a:t>Competition with other colleges and universities has never been higher</a:t>
            </a:r>
          </a:p>
          <a:p>
            <a:pPr defTabSz="781583">
              <a:lnSpc>
                <a:spcPct val="90000"/>
              </a:lnSpc>
              <a:spcBef>
                <a:spcPts val="1600"/>
              </a:spcBef>
              <a:buClr>
                <a:schemeClr val="accent2"/>
              </a:buClr>
            </a:pPr>
            <a:endParaRPr lang="en-CA" sz="2700" baseline="0">
              <a:solidFill>
                <a:schemeClr val="accent5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2E0D6C0-A5CE-CE99-8EB1-7BDB71D21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8252291" cy="1335973"/>
          </a:xfrm>
        </p:spPr>
        <p:txBody>
          <a:bodyPr vert="horz" lIns="0" tIns="0" rIns="0" bIns="0" rtlCol="0" anchor="t">
            <a:normAutofit/>
          </a:bodyPr>
          <a:lstStyle>
            <a:defPPr>
              <a:defRPr lang="en-US"/>
            </a:defPPr>
            <a:lvl1pPr marL="0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75074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50153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25227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00305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75381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250455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25533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00608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1583"/>
            <a:r>
              <a:rPr lang="en-US" sz="4800">
                <a:solidFill>
                  <a:srgbClr val="00673E"/>
                </a:solidFill>
                <a:latin typeface="+mj-lt"/>
                <a:ea typeface="+mj-ea"/>
                <a:cs typeface="+mj-cs"/>
              </a:rPr>
              <a:t>Current Job Market Insights</a:t>
            </a:r>
          </a:p>
        </p:txBody>
      </p:sp>
      <p:pic>
        <p:nvPicPr>
          <p:cNvPr id="11" name="Video 10" descr="People Discussing">
            <a:extLst>
              <a:ext uri="{FF2B5EF4-FFF2-40B4-BE49-F238E27FC236}">
                <a16:creationId xmlns:a16="http://schemas.microsoft.com/office/drawing/2014/main" id="{54D7BBBF-FAAC-1560-279E-170416E3B5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2219" r="29443" b="1"/>
          <a:stretch>
            <a:fillRect/>
          </a:stretch>
        </p:blipFill>
        <p:spPr>
          <a:xfrm>
            <a:off x="9346896" y="853030"/>
            <a:ext cx="6910691" cy="6682303"/>
          </a:xfrm>
          <a:prstGeom prst="rect">
            <a:avLst/>
          </a:prstGeom>
          <a:noFill/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860775A1-335F-05BD-873D-FE55FF1D4F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46896" y="5489054"/>
            <a:ext cx="5029037" cy="778226"/>
          </a:xfrm>
        </p:spPr>
        <p:txBody>
          <a:bodyPr/>
          <a:lstStyle/>
          <a:p>
            <a:r>
              <a:rPr lang="en-US"/>
              <a:t>Job searching is competitive!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04136732-5CBA-BEF6-AD1C-E34791C58B4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pPr>
              <a:spcAft>
                <a:spcPts val="600"/>
              </a:spcAft>
            </a:pPr>
            <a:fld id="{DEF3F5F5-7776-394F-A41F-3BAFC9CC9F8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4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3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4DFA-E736-2071-0780-F31058FC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3B6311-B829-0419-B0BB-08169BDC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31" y="531740"/>
            <a:ext cx="10491404" cy="1335973"/>
          </a:xfrm>
        </p:spPr>
        <p:txBody>
          <a:bodyPr/>
          <a:lstStyle>
            <a:defPPr>
              <a:defRPr lang="en-US"/>
            </a:defPPr>
            <a:lvl1pPr marL="0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75074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50153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25227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00305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75381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250455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25533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00608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>
                <a:solidFill>
                  <a:srgbClr val="00673E"/>
                </a:solidFill>
                <a:latin typeface="Arial"/>
                <a:ea typeface="+mj-ea"/>
                <a:cs typeface="+mj-cs"/>
              </a:rPr>
              <a:t>Current Job Market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07F00-F7D3-AA57-9561-7DAC6647566A}"/>
              </a:ext>
            </a:extLst>
          </p:cNvPr>
          <p:cNvSpPr txBox="1"/>
          <p:nvPr/>
        </p:nvSpPr>
        <p:spPr>
          <a:xfrm flipH="1">
            <a:off x="476406" y="1411665"/>
            <a:ext cx="14526548" cy="58692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62560" tIns="81280" rIns="162560" bIns="812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75074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50153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25227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00305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75381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250455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25533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00608" algn="l" defTabSz="875074" rtl="0" eaLnBrk="1" latinLnBrk="0" hangingPunct="1">
              <a:defRPr sz="34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500"/>
              </a:spcBef>
              <a:buClr>
                <a:srgbClr val="599A83"/>
              </a:buClr>
            </a:pPr>
            <a:r>
              <a:rPr lang="en-US" sz="3200" b="1">
                <a:solidFill>
                  <a:srgbClr val="589278"/>
                </a:solidFill>
                <a:cs typeface="Arial"/>
              </a:rPr>
              <a:t>What do we expect from students? </a:t>
            </a:r>
          </a:p>
          <a:p>
            <a:pPr>
              <a:lnSpc>
                <a:spcPct val="110000"/>
              </a:lnSpc>
              <a:spcBef>
                <a:spcPts val="500"/>
              </a:spcBef>
              <a:buClr>
                <a:srgbClr val="599A83"/>
              </a:buClr>
            </a:pPr>
            <a:endParaRPr lang="en-US" sz="2800" b="1">
              <a:solidFill>
                <a:srgbClr val="589278"/>
              </a:solidFill>
              <a:cs typeface="Arial"/>
            </a:endParaRPr>
          </a:p>
          <a:p>
            <a:pPr marL="457200" indent="-457200">
              <a:lnSpc>
                <a:spcPct val="110000"/>
              </a:lnSpc>
              <a:spcBef>
                <a:spcPts val="500"/>
              </a:spcBef>
              <a:buClr>
                <a:srgbClr val="599A83"/>
              </a:buClr>
              <a:buFont typeface="Arial,Sans-Serif"/>
              <a:buChar char="•"/>
            </a:pPr>
            <a:r>
              <a:rPr lang="en-US" sz="2800">
                <a:solidFill>
                  <a:schemeClr val="accent5"/>
                </a:solidFill>
                <a:cs typeface="Arial"/>
              </a:rPr>
              <a:t>Don’t apply late! Tardiness applying to jobs will be catastrophic in job search (that time will not come back, nor will the jobs)</a:t>
            </a:r>
          </a:p>
          <a:p>
            <a:pPr marL="457200" indent="-457200">
              <a:lnSpc>
                <a:spcPct val="110000"/>
              </a:lnSpc>
              <a:spcBef>
                <a:spcPts val="500"/>
              </a:spcBef>
              <a:buClr>
                <a:srgbClr val="599A83"/>
              </a:buClr>
              <a:buFont typeface="Arial,Sans-Serif"/>
              <a:buChar char="•"/>
            </a:pPr>
            <a:r>
              <a:rPr lang="en-US" sz="2800">
                <a:solidFill>
                  <a:schemeClr val="accent5"/>
                </a:solidFill>
                <a:cs typeface="Arial"/>
              </a:rPr>
              <a:t>Students must be open-minded and persistent when looking</a:t>
            </a:r>
          </a:p>
          <a:p>
            <a:pPr marL="457200" indent="-457200">
              <a:lnSpc>
                <a:spcPct val="110000"/>
              </a:lnSpc>
              <a:spcBef>
                <a:spcPts val="500"/>
              </a:spcBef>
              <a:buClr>
                <a:srgbClr val="599A83"/>
              </a:buClr>
              <a:buFont typeface="Arial,Sans-Serif"/>
              <a:buChar char="•"/>
            </a:pPr>
            <a:r>
              <a:rPr lang="en-US" sz="2800">
                <a:solidFill>
                  <a:schemeClr val="accent5"/>
                </a:solidFill>
                <a:cs typeface="Arial"/>
              </a:rPr>
              <a:t>Expect to see jobs from all over the province/country</a:t>
            </a:r>
          </a:p>
          <a:p>
            <a:pPr marL="457200" indent="-457200">
              <a:lnSpc>
                <a:spcPct val="110000"/>
              </a:lnSpc>
              <a:spcBef>
                <a:spcPts val="500"/>
              </a:spcBef>
              <a:buClr>
                <a:srgbClr val="599A83"/>
              </a:buClr>
              <a:buFont typeface="Arial,Sans-Serif"/>
              <a:buChar char="•"/>
            </a:pPr>
            <a:r>
              <a:rPr lang="en-US" sz="2800">
                <a:solidFill>
                  <a:schemeClr val="accent5"/>
                </a:solidFill>
                <a:cs typeface="Arial"/>
              </a:rPr>
              <a:t>Expect more direct apply jobs (all Post Secondary Institutions are seeing this trend)</a:t>
            </a:r>
          </a:p>
          <a:p>
            <a:pPr marL="457200" indent="-457200">
              <a:lnSpc>
                <a:spcPct val="110000"/>
              </a:lnSpc>
              <a:spcBef>
                <a:spcPts val="500"/>
              </a:spcBef>
              <a:buClr>
                <a:srgbClr val="599A83"/>
              </a:buClr>
              <a:buFont typeface="Arial,Sans-Serif"/>
              <a:buChar char="•"/>
            </a:pPr>
            <a:r>
              <a:rPr lang="en-US" sz="2800">
                <a:solidFill>
                  <a:schemeClr val="accent5"/>
                </a:solidFill>
                <a:cs typeface="Arial"/>
              </a:rPr>
              <a:t>Students must be prepared to travel should they wish to secure co-op employment</a:t>
            </a:r>
          </a:p>
          <a:p>
            <a:pPr marL="457200" indent="-457200">
              <a:lnSpc>
                <a:spcPct val="110000"/>
              </a:lnSpc>
              <a:spcBef>
                <a:spcPts val="500"/>
              </a:spcBef>
              <a:buClr>
                <a:srgbClr val="599A83"/>
              </a:buClr>
              <a:buFont typeface="Arial,Sans-Serif"/>
              <a:buChar char="•"/>
            </a:pPr>
            <a:r>
              <a:rPr lang="en-US" sz="2800">
                <a:solidFill>
                  <a:schemeClr val="accent5"/>
                </a:solidFill>
                <a:cs typeface="Arial"/>
              </a:rPr>
              <a:t>Co-op is not the place for a student to find their "dream job". It's a foot in the door.</a:t>
            </a:r>
          </a:p>
          <a:p>
            <a:pPr marL="457200" indent="-457200">
              <a:lnSpc>
                <a:spcPct val="110000"/>
              </a:lnSpc>
              <a:spcBef>
                <a:spcPts val="500"/>
              </a:spcBef>
              <a:buClr>
                <a:srgbClr val="599A83"/>
              </a:buClr>
              <a:buFont typeface="Arial,Sans-Serif"/>
              <a:buChar char="•"/>
            </a:pPr>
            <a:r>
              <a:rPr lang="en-US" sz="2800">
                <a:solidFill>
                  <a:schemeClr val="accent5"/>
                </a:solidFill>
                <a:cs typeface="Arial"/>
              </a:rPr>
              <a:t>Expect entry level jobs, not management level (pad your resume, develop a network)</a:t>
            </a:r>
          </a:p>
          <a:p>
            <a:pPr marL="508000" indent="-508000">
              <a:buFont typeface="Arial"/>
              <a:buChar char="•"/>
            </a:pPr>
            <a:endParaRPr lang="en-US" sz="2500">
              <a:solidFill>
                <a:schemeClr val="accent5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510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C81F-6920-06F7-F108-443527894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768365"/>
            <a:ext cx="13691395" cy="840301"/>
          </a:xfrm>
        </p:spPr>
        <p:txBody>
          <a:bodyPr/>
          <a:lstStyle/>
          <a:p>
            <a:r>
              <a:rPr lang="en-CA"/>
              <a:t>Major Job Boards in Canada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E1DC4-7DC2-33F4-1874-B0DFECD6A4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74BD61-83DF-2EB2-86F0-BCC169C4B15E}"/>
              </a:ext>
            </a:extLst>
          </p:cNvPr>
          <p:cNvSpPr/>
          <p:nvPr/>
        </p:nvSpPr>
        <p:spPr>
          <a:xfrm>
            <a:off x="812881" y="2065320"/>
            <a:ext cx="3958221" cy="2447686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LinkedIn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2E5BF6-B915-C37F-81EC-018B318FED36}"/>
              </a:ext>
            </a:extLst>
          </p:cNvPr>
          <p:cNvSpPr/>
          <p:nvPr/>
        </p:nvSpPr>
        <p:spPr>
          <a:xfrm>
            <a:off x="812880" y="5264629"/>
            <a:ext cx="3958221" cy="2447686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Indeed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A1BA1D-E9C1-D9A9-6E98-63CFC86DD925}"/>
              </a:ext>
            </a:extLst>
          </p:cNvPr>
          <p:cNvSpPr/>
          <p:nvPr/>
        </p:nvSpPr>
        <p:spPr>
          <a:xfrm>
            <a:off x="5980470" y="2065320"/>
            <a:ext cx="3958221" cy="2447686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Job Bank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7D3C88-E283-89C7-F2BB-30893FCF68DB}"/>
              </a:ext>
            </a:extLst>
          </p:cNvPr>
          <p:cNvSpPr/>
          <p:nvPr/>
        </p:nvSpPr>
        <p:spPr>
          <a:xfrm>
            <a:off x="5980470" y="5264629"/>
            <a:ext cx="3958221" cy="2447686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FSWEP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603497-8D8E-1BA2-330D-CF79E32FA695}"/>
              </a:ext>
            </a:extLst>
          </p:cNvPr>
          <p:cNvSpPr/>
          <p:nvPr/>
        </p:nvSpPr>
        <p:spPr>
          <a:xfrm>
            <a:off x="11148059" y="2065320"/>
            <a:ext cx="3958221" cy="2447686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City of Ottawa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1885CC-0524-6E01-4F78-6AD7148F838B}"/>
              </a:ext>
            </a:extLst>
          </p:cNvPr>
          <p:cNvSpPr/>
          <p:nvPr/>
        </p:nvSpPr>
        <p:spPr>
          <a:xfrm>
            <a:off x="11148059" y="5264629"/>
            <a:ext cx="3958221" cy="2447686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/>
              <a:t>Ontario Public Service Careers</a:t>
            </a:r>
          </a:p>
        </p:txBody>
      </p:sp>
    </p:spTree>
    <p:extLst>
      <p:ext uri="{BB962C8B-B14F-4D97-AF65-F5344CB8AC3E}">
        <p14:creationId xmlns:p14="http://schemas.microsoft.com/office/powerpoint/2010/main" val="2817335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9991CBD-3C1B-D543-A149-89C4B3245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0623382" cy="1335973"/>
          </a:xfrm>
        </p:spPr>
        <p:txBody>
          <a:bodyPr/>
          <a:lstStyle/>
          <a:p>
            <a:r>
              <a:rPr lang="en-US" dirty="0"/>
              <a:t>Online Job Board Best Practices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A79B85-5071-EC01-1C15-9B83C6C896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794489"/>
            <a:ext cx="13804993" cy="5130800"/>
          </a:xfrm>
        </p:spPr>
        <p:txBody>
          <a:bodyPr vert="horz" lIns="0" tIns="0" rIns="0" bIns="0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006643"/>
                </a:solidFill>
              </a:rPr>
              <a:t>Customize</a:t>
            </a:r>
            <a:r>
              <a:rPr lang="en-US" sz="3200"/>
              <a:t> your resume and cover letter to each position.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Identify the </a:t>
            </a:r>
            <a:r>
              <a:rPr lang="en-US" sz="3200" b="1">
                <a:solidFill>
                  <a:srgbClr val="006643"/>
                </a:solidFill>
              </a:rPr>
              <a:t>Essential vs. Non-Essential </a:t>
            </a:r>
            <a:r>
              <a:rPr lang="en-US" sz="3200"/>
              <a:t>job duties. </a:t>
            </a:r>
            <a:endParaRPr lang="en-US" sz="3200"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Apply to jobs where you meet at least </a:t>
            </a:r>
            <a:r>
              <a:rPr lang="en-US" sz="3200" b="1">
                <a:solidFill>
                  <a:srgbClr val="1E6040"/>
                </a:solidFill>
              </a:rPr>
              <a:t>80% of qualifications</a:t>
            </a:r>
            <a:r>
              <a:rPr lang="en-US" sz="3200"/>
              <a:t>. Your education years can often count as years of experience. </a:t>
            </a:r>
            <a:endParaRPr lang="en-US" sz="3200"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006643"/>
                </a:solidFill>
              </a:rPr>
              <a:t>Avoid using templates </a:t>
            </a:r>
            <a:r>
              <a:rPr lang="en-US" sz="3200"/>
              <a:t>to overcome Applicant Tracking Systems (ATS).</a:t>
            </a:r>
            <a:endParaRPr lang="en-US" sz="3200"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Search for jobs using a variety of </a:t>
            </a:r>
            <a:r>
              <a:rPr lang="en-US" sz="3200" b="1">
                <a:solidFill>
                  <a:srgbClr val="006643"/>
                </a:solidFill>
              </a:rPr>
              <a:t>key words </a:t>
            </a:r>
            <a:r>
              <a:rPr lang="en-US" sz="3200"/>
              <a:t>and </a:t>
            </a:r>
            <a:r>
              <a:rPr lang="en-US" sz="3200" b="1">
                <a:solidFill>
                  <a:srgbClr val="006643"/>
                </a:solidFill>
              </a:rPr>
              <a:t>different titles</a:t>
            </a:r>
            <a:r>
              <a:rPr lang="en-US" sz="3200"/>
              <a:t>.</a:t>
            </a:r>
            <a:endParaRPr lang="en-US" sz="3200"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006643"/>
                </a:solidFill>
              </a:rPr>
              <a:t>Don’t wait </a:t>
            </a:r>
            <a:r>
              <a:rPr lang="en-US" sz="3200"/>
              <a:t>until the closing date to apply.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/>
          </a:p>
          <a:p>
            <a:endParaRPr lang="en-US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DEFC3-DA87-63BC-D43F-737DED6992E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73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B115-618B-4DA3-BFBB-6E34FCEE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LinkedIn 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1ECD4-D7AE-612A-0B36-1B613C9AC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557F2-DEF2-9DCB-C151-A0CB8B7B44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0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LinkedIn as a Job Search Tool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BE7F1-4058-0B33-E820-1C9C9D16C6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116401"/>
            <a:ext cx="10347809" cy="5130800"/>
          </a:xfrm>
        </p:spPr>
        <p:txBody>
          <a:bodyPr vert="horz" lIns="0" tIns="0" rIns="0" bIns="0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3000"/>
              <a:t>Create an </a:t>
            </a:r>
            <a:r>
              <a:rPr lang="en-CA" sz="3000" b="1">
                <a:solidFill>
                  <a:srgbClr val="00673E"/>
                </a:solidFill>
              </a:rPr>
              <a:t>all-star</a:t>
            </a:r>
            <a:r>
              <a:rPr lang="en-CA" sz="3000" b="1"/>
              <a:t> </a:t>
            </a:r>
            <a:r>
              <a:rPr lang="en-CA" sz="3000"/>
              <a:t>profile to increase visibility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3000" b="1">
                <a:solidFill>
                  <a:srgbClr val="00673E"/>
                </a:solidFill>
              </a:rPr>
              <a:t>Follow companies and join groups</a:t>
            </a:r>
            <a:r>
              <a:rPr lang="en-CA" sz="3000">
                <a:solidFill>
                  <a:srgbClr val="00673E"/>
                </a:solidFill>
              </a:rPr>
              <a:t> </a:t>
            </a:r>
            <a:r>
              <a:rPr lang="en-CA" sz="3000"/>
              <a:t>related to your industry or career aspirations to receive regular updates on job postings and recruitment events</a:t>
            </a:r>
            <a:endParaRPr lang="en-CA" sz="3000"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3000"/>
              <a:t>Utilize the </a:t>
            </a:r>
            <a:r>
              <a:rPr lang="en-CA" sz="3000" b="1">
                <a:solidFill>
                  <a:srgbClr val="00673E"/>
                </a:solidFill>
              </a:rPr>
              <a:t>Jobs</a:t>
            </a:r>
            <a:r>
              <a:rPr lang="en-CA" sz="3000"/>
              <a:t> features to receive tailored job suggestions in your industry</a:t>
            </a:r>
            <a:endParaRPr lang="en-CA" sz="3000"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3000">
                <a:solidFill>
                  <a:srgbClr val="423F3F"/>
                </a:solidFill>
              </a:rPr>
              <a:t>Add the </a:t>
            </a:r>
            <a:r>
              <a:rPr lang="en-CA" sz="3000" b="1">
                <a:solidFill>
                  <a:srgbClr val="006643"/>
                </a:solidFill>
              </a:rPr>
              <a:t>#Opentowork </a:t>
            </a:r>
            <a:r>
              <a:rPr lang="en-CA" sz="3000">
                <a:solidFill>
                  <a:srgbClr val="423F3F"/>
                </a:solidFill>
              </a:rPr>
              <a:t>filter on your profile picture to let all LinkedIn members know you’re looking </a:t>
            </a:r>
            <a:endParaRPr lang="en-CA" sz="3000">
              <a:solidFill>
                <a:srgbClr val="423F3F"/>
              </a:solidFill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3000">
                <a:solidFill>
                  <a:srgbClr val="423F3F"/>
                </a:solidFill>
              </a:rPr>
              <a:t>Create job alerts </a:t>
            </a:r>
            <a:endParaRPr lang="en-CA" sz="3000">
              <a:solidFill>
                <a:srgbClr val="423F3F"/>
              </a:solidFill>
              <a:cs typeface="Arial"/>
            </a:endParaRPr>
          </a:p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l" defTabSz="7815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3F5F5-7776-394F-A41F-3BAFC9CC9F8E}" type="slidenum">
              <a:rPr kumimoji="0" lang="en-US" sz="2100" b="1" i="0" u="none" strike="noStrike" kern="1200" cap="none" spc="0" normalizeH="0" baseline="0" noProof="0" smtClean="0">
                <a:ln>
                  <a:noFill/>
                </a:ln>
                <a:solidFill>
                  <a:srgbClr val="A6C8B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7815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2100" b="1" i="0" u="none" strike="noStrike" kern="1200" cap="none" spc="0" normalizeH="0" baseline="0" noProof="0">
              <a:ln>
                <a:noFill/>
              </a:ln>
              <a:solidFill>
                <a:srgbClr val="A6C8B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Picture 6" descr="A cartoon of a child holding a phone&#10;&#10;Description automatically generated">
            <a:extLst>
              <a:ext uri="{FF2B5EF4-FFF2-40B4-BE49-F238E27FC236}">
                <a16:creationId xmlns:a16="http://schemas.microsoft.com/office/drawing/2014/main" id="{EAD745BB-2AA9-0985-2648-6B0DDA9FD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577" y="2541444"/>
            <a:ext cx="4886792" cy="48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22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3ED5C-40F5-6C72-F490-10D5CE2E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LinkedIn &amp; Job Search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92827-91F4-F405-9B19-0EF84BC077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4738" y="1851095"/>
            <a:ext cx="14968112" cy="5968018"/>
          </a:xfrm>
        </p:spPr>
        <p:txBody>
          <a:bodyPr vert="horz" lIns="0" tIns="0" rIns="0" bIns="0" rtlCol="0" anchor="t">
            <a:noAutofit/>
          </a:bodyPr>
          <a:lstStyle/>
          <a:p>
            <a:pPr marL="457200" indent="-457200">
              <a:buFont typeface="Arial"/>
              <a:buChar char="•"/>
            </a:pPr>
            <a:r>
              <a:rPr lang="en-US">
                <a:cs typeface="Arial"/>
              </a:rPr>
              <a:t>The Jobs feature suggests jobs you may be interested in based on your profile and companies/positions you have viewed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cs typeface="Arial"/>
              </a:rPr>
              <a:t>Optimize your job search and apply using the LinkedIn Easy Apply button 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cs typeface="Arial"/>
              </a:rPr>
              <a:t>Let recruiters known you’re open – turn on Open to Work</a:t>
            </a:r>
          </a:p>
          <a:p>
            <a:pPr marL="1727200" lvl="1" indent="-488315">
              <a:buFont typeface="Courier New"/>
              <a:buChar char="o"/>
            </a:pPr>
            <a:r>
              <a:rPr lang="en-US">
                <a:cs typeface="Arial"/>
              </a:rPr>
              <a:t>Get surfaced in recruiter searches that match your career interests</a:t>
            </a:r>
          </a:p>
          <a:p>
            <a:pPr marL="1727200" lvl="1" indent="-488315">
              <a:buFont typeface="Courier New"/>
              <a:buChar char="o"/>
            </a:pPr>
            <a:r>
              <a:rPr lang="en-US">
                <a:cs typeface="Arial"/>
              </a:rPr>
              <a:t>Double your chances of receiving relevant messages</a:t>
            </a:r>
          </a:p>
          <a:p>
            <a:pPr marL="1727200" lvl="1" indent="-488315">
              <a:buFont typeface="Courier New"/>
              <a:buChar char="o"/>
            </a:pPr>
            <a:r>
              <a:rPr lang="en-US">
                <a:cs typeface="Arial"/>
              </a:rPr>
              <a:t>Allows you to type a message to recruiters and identify what types of jobs you are interested in</a:t>
            </a:r>
          </a:p>
          <a:p>
            <a:endParaRPr lang="en-US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91BE4-4FD3-EA28-075C-EAFE7D67611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8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61DC7-9FF4-D156-7670-8168AA49787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FA7CF77C-D591-15E8-9D62-B3AD27EAF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67" y="213693"/>
            <a:ext cx="7870252" cy="800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27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6193-6D1C-BD30-3DB1-9C6B2100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LinkedIn &amp; Networking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8B99E-3A78-5B3E-694B-9C1B8D0783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939159"/>
            <a:ext cx="14274719" cy="5596175"/>
          </a:xfrm>
        </p:spPr>
        <p:txBody>
          <a:bodyPr vert="horz" lIns="0" tIns="0" rIns="0" bIns="0" rtlCol="0" anchor="t">
            <a:noAutofit/>
          </a:bodyPr>
          <a:lstStyle/>
          <a:p>
            <a:pPr marL="457200" indent="-457200">
              <a:buFont typeface="Arial"/>
              <a:buChar char="•"/>
            </a:pPr>
            <a:r>
              <a:rPr lang="en-US">
                <a:cs typeface="Arial"/>
              </a:rPr>
              <a:t>Network with your connections for job leads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cs typeface="Arial"/>
              </a:rPr>
              <a:t>Make meaningful connections – this can include professionals, classmates, or recruiters who work for companies you are interested in!</a:t>
            </a:r>
          </a:p>
          <a:p>
            <a:pPr marL="1727273" lvl="1" indent="-457200"/>
            <a:r>
              <a:rPr lang="en-US">
                <a:cs typeface="Arial"/>
              </a:rPr>
              <a:t>Use search terms like ‘recruiter – [Company name] – [job title]’ 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cs typeface="Arial"/>
              </a:rPr>
              <a:t>Ensure you send a custom message to your new connection and say how you know each other or how you intend develop the relationship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cs typeface="Arial"/>
              </a:rPr>
              <a:t>Keep an eye out for “2</a:t>
            </a:r>
            <a:r>
              <a:rPr lang="en-US" baseline="30000">
                <a:cs typeface="Arial"/>
              </a:rPr>
              <a:t>nd</a:t>
            </a:r>
            <a:r>
              <a:rPr lang="en-US">
                <a:cs typeface="Arial"/>
              </a:rPr>
              <a:t>” connections </a:t>
            </a:r>
          </a:p>
          <a:p>
            <a:endParaRPr lang="en-US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EC265-D69F-A147-9360-F72D572D99E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6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4D0B8-5EB5-BFB9-A139-DE09A0AF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Indeed Best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1F113-0ADB-D547-1AEC-8A49DA0A3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EB4EF-0777-5A10-B93D-1F741E0EA8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38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A8BD-31CA-77DE-E816-235D1C6DB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Search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8CA55-3767-499C-3B62-3F818CDFE2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017059"/>
            <a:ext cx="13466998" cy="551827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Use Boolean search terms to get more precise results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Example: “student AND co-op AND internship”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Try a variety of titles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Example: “Career advisor / recruiter / employment consultant”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Filter results by ‘Date Posted’ to view more recent postings first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Look for tags like ‘</a:t>
            </a:r>
            <a:r>
              <a:rPr lang="en-CA" b="1" dirty="0"/>
              <a:t>Responsive Employer</a:t>
            </a:r>
            <a:r>
              <a:rPr lang="en-CA" dirty="0"/>
              <a:t>’, ‘</a:t>
            </a:r>
            <a:r>
              <a:rPr lang="en-CA" b="1" dirty="0"/>
              <a:t>Sponsored job</a:t>
            </a:r>
            <a:r>
              <a:rPr lang="en-CA" dirty="0"/>
              <a:t>’ or ‘</a:t>
            </a:r>
            <a:r>
              <a:rPr lang="en-CA" b="1" dirty="0"/>
              <a:t>Hiring multiple candidates</a:t>
            </a:r>
            <a:r>
              <a:rPr lang="en-CA" dirty="0"/>
              <a:t>’ </a:t>
            </a:r>
          </a:p>
          <a:p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2DED5-07C9-3AC7-AAB8-8F21E09B9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85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CF95F-CC44-4CB2-A060-546278A162F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EF3F5F5-7776-394F-A41F-3BAFC9CC9F8E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EBC68-78C9-799C-C575-AF9C5931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1335973"/>
          </a:xfrm>
        </p:spPr>
        <p:txBody>
          <a:bodyPr anchor="t">
            <a:normAutofit/>
          </a:bodyPr>
          <a:lstStyle/>
          <a:p>
            <a:r>
              <a:rPr lang="en-CA"/>
              <a:t>Applications</a:t>
            </a: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AB41945C-98DA-242F-9756-E368BCC1B1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1194075"/>
              </p:ext>
            </p:extLst>
          </p:nvPr>
        </p:nvGraphicFramePr>
        <p:xfrm>
          <a:off x="812801" y="1845425"/>
          <a:ext cx="11049462" cy="5680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C6A2BBB9-25A7-8824-D067-10E78E48CF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2851" y="6600305"/>
            <a:ext cx="764771" cy="7647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A3BB18-5481-0BBA-EE7C-4D748136DFEE}"/>
              </a:ext>
            </a:extLst>
          </p:cNvPr>
          <p:cNvSpPr txBox="1"/>
          <p:nvPr/>
        </p:nvSpPr>
        <p:spPr>
          <a:xfrm>
            <a:off x="12322948" y="2778767"/>
            <a:ext cx="3549535" cy="3814227"/>
          </a:xfrm>
          <a:prstGeom prst="round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n-CA" sz="2200"/>
              <a:t>The Indeed resume template will change your resume formatting, and may remove key information from your actual resume</a:t>
            </a:r>
          </a:p>
          <a:p>
            <a:pPr lvl="0" algn="ctr"/>
            <a:endParaRPr lang="en-US" sz="2200"/>
          </a:p>
          <a:p>
            <a:pPr lvl="0" algn="ctr"/>
            <a:r>
              <a:rPr lang="en-CA" sz="2200"/>
              <a:t>Similar issues can happen with Word documents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DE4C4-30CE-7C01-8101-B0D2937EBE47}"/>
              </a:ext>
            </a:extLst>
          </p:cNvPr>
          <p:cNvSpPr txBox="1"/>
          <p:nvPr/>
        </p:nvSpPr>
        <p:spPr>
          <a:xfrm>
            <a:off x="13845466" y="1122150"/>
            <a:ext cx="504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00">
                <a:solidFill>
                  <a:srgbClr val="C0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28266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BD19-1A1A-BAAF-497B-BD16B1FA2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573383"/>
            <a:ext cx="10832272" cy="710672"/>
          </a:xfrm>
        </p:spPr>
        <p:txBody>
          <a:bodyPr/>
          <a:lstStyle/>
          <a:p>
            <a:r>
              <a:rPr lang="en-CA" dirty="0"/>
              <a:t>Employer Feedback – Using Indeed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D1642-B3A8-E86D-C8DA-0EDFF8F4504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AB23DC-0BF3-E43A-973C-8E945E4FD26C}"/>
              </a:ext>
            </a:extLst>
          </p:cNvPr>
          <p:cNvSpPr txBox="1"/>
          <p:nvPr/>
        </p:nvSpPr>
        <p:spPr>
          <a:xfrm>
            <a:off x="728214" y="1949684"/>
            <a:ext cx="1487917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We asked employers using Indeed as a main hiring tool to provide insight for students applying through the platform – these are some of the highlights: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F5FB19-BF65-95EE-6358-A53AB6EC244C}"/>
              </a:ext>
            </a:extLst>
          </p:cNvPr>
          <p:cNvSpPr/>
          <p:nvPr/>
        </p:nvSpPr>
        <p:spPr>
          <a:xfrm>
            <a:off x="544331" y="4182035"/>
            <a:ext cx="4861778" cy="2299448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Focus on the ‘experience’ (or content) of your resume to secure a pre-screening call/interview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4C2F42-C966-3D4E-0326-713D56DEBECE}"/>
              </a:ext>
            </a:extLst>
          </p:cNvPr>
          <p:cNvSpPr/>
          <p:nvPr/>
        </p:nvSpPr>
        <p:spPr>
          <a:xfrm>
            <a:off x="5738246" y="4182035"/>
            <a:ext cx="4861778" cy="2299448"/>
          </a:xfrm>
          <a:prstGeom prst="roundRect">
            <a:avLst/>
          </a:prstGeom>
          <a:solidFill>
            <a:schemeClr val="tx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The ideal time to apply is in the </a:t>
            </a:r>
            <a:r>
              <a:rPr lang="en-CA" sz="2800" b="1" dirty="0">
                <a:solidFill>
                  <a:schemeClr val="bg1"/>
                </a:solidFill>
              </a:rPr>
              <a:t>first week that the posting is active</a:t>
            </a:r>
            <a:r>
              <a:rPr lang="en-CA" sz="2800" dirty="0">
                <a:solidFill>
                  <a:schemeClr val="bg1"/>
                </a:solidFill>
              </a:rPr>
              <a:t>, but efforts are made to review all postings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6F6E94-09A2-AEF4-AF5A-0C9E7630380A}"/>
              </a:ext>
            </a:extLst>
          </p:cNvPr>
          <p:cNvSpPr/>
          <p:nvPr/>
        </p:nvSpPr>
        <p:spPr>
          <a:xfrm>
            <a:off x="10932161" y="4182035"/>
            <a:ext cx="4861778" cy="2299448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tx1"/>
                </a:solidFill>
              </a:rPr>
              <a:t>Applicant questions are actively used to narrow down applicants – make sure to answer them</a:t>
            </a:r>
          </a:p>
        </p:txBody>
      </p:sp>
    </p:spTree>
    <p:extLst>
      <p:ext uri="{BB962C8B-B14F-4D97-AF65-F5344CB8AC3E}">
        <p14:creationId xmlns:p14="http://schemas.microsoft.com/office/powerpoint/2010/main" val="1124366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3BA5B-4607-3CFE-7B3D-80244E9E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059516"/>
            <a:ext cx="14440975" cy="1816101"/>
          </a:xfrm>
        </p:spPr>
        <p:txBody>
          <a:bodyPr/>
          <a:lstStyle/>
          <a:p>
            <a:r>
              <a:rPr lang="en-CA"/>
              <a:t>Government Job Boards Best Practices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F2F38-C0B0-22CE-6400-0F5B25537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Job Bank, FSWEP, City of Ottawa Jobs and</a:t>
            </a:r>
          </a:p>
          <a:p>
            <a:r>
              <a:rPr lang="en-CA"/>
              <a:t>Ontario Public Service Careers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3E59D-6EAB-84E1-79C5-CDDAD5CD30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42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C7E1F-2F8D-FECE-3B8F-26F42268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1335973"/>
          </a:xfrm>
        </p:spPr>
        <p:txBody>
          <a:bodyPr/>
          <a:lstStyle/>
          <a:p>
            <a:r>
              <a:rPr lang="en-CA"/>
              <a:t>Job Bank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ADE86-889C-D81E-D6E8-86277B48F9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1615780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600"/>
              <a:t>Recommended: Create a Job Bank account to access Job Match and Direct Apply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sz="2600"/>
              <a:t>You must provide your SIN to access the Job Match and Direct Apply services. Citizens, Permanent Residents, and Temporary Residents can create an account.</a:t>
            </a:r>
          </a:p>
          <a:p>
            <a:endParaRPr lang="en-CA" sz="26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6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B2B30-FB1B-C665-B53C-D8543A93E6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55EECB-105F-1DBD-94B8-A318D76713F6}"/>
              </a:ext>
            </a:extLst>
          </p:cNvPr>
          <p:cNvSpPr/>
          <p:nvPr/>
        </p:nvSpPr>
        <p:spPr>
          <a:xfrm>
            <a:off x="2101755" y="5294108"/>
            <a:ext cx="12064621" cy="2241755"/>
          </a:xfrm>
          <a:prstGeom prst="roundRect">
            <a:avLst/>
          </a:prstGeom>
          <a:solidFill>
            <a:srgbClr val="5892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>
                <a:solidFill>
                  <a:schemeClr val="bg1"/>
                </a:solidFill>
              </a:rPr>
              <a:t>You can create a Job Bank account without providing your SIN. However, without verifying your eligibility, you will not have access to the Job March and Direct Apply services. Your SIN is confidential, and </a:t>
            </a:r>
            <a:r>
              <a:rPr lang="en-CA" sz="2400" b="1">
                <a:solidFill>
                  <a:schemeClr val="bg1"/>
                </a:solidFill>
              </a:rPr>
              <a:t>you are not required to provide this information </a:t>
            </a:r>
            <a:r>
              <a:rPr lang="en-CA" sz="2400">
                <a:solidFill>
                  <a:schemeClr val="bg1"/>
                </a:solidFill>
              </a:rPr>
              <a:t>to view jobs on Job Bank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B3CAD5-72EF-7B74-9909-E69153FEC0DD}"/>
              </a:ext>
            </a:extLst>
          </p:cNvPr>
          <p:cNvSpPr txBox="1"/>
          <p:nvPr/>
        </p:nvSpPr>
        <p:spPr>
          <a:xfrm>
            <a:off x="14282195" y="5691710"/>
            <a:ext cx="504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800">
                <a:solidFill>
                  <a:srgbClr val="C0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43509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6C8C-B8AA-362E-C9A6-6DAE0DC88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Job Bank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D5674-F354-240D-F591-36D540963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2404534"/>
            <a:ext cx="13653745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600"/>
              <a:t>Job Match: Update your profile to allow jobs to be matched to you based on your employment history and education and/or preferences (type of job, hours of work, preferred wage, etc.)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sz="2600"/>
              <a:t>Tips: Activate your job match profile, update your experiences and skills, and extend your search radius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600"/>
              <a:t>Direct Apply: Upload your resume to your account. This resume will be sent directly to employers when you apply for their position.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600"/>
              <a:t>Alerts: Create alerts to be notified when new jobs matching your search criteria are available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sz="2600"/>
              <a:t>Enter job titles and locations that interest you. Select filters to refine your search, then click on “create alert"</a:t>
            </a:r>
          </a:p>
          <a:p>
            <a:endParaRPr lang="en-CA" sz="2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DE811-F48E-D6B3-4697-A89A0971732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68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47163-A955-3FA5-FE51-D96B6C81B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3869138" cy="1335973"/>
          </a:xfrm>
        </p:spPr>
        <p:txBody>
          <a:bodyPr/>
          <a:lstStyle/>
          <a:p>
            <a:r>
              <a:rPr lang="en-CA"/>
              <a:t>FSWEP </a:t>
            </a:r>
            <a:r>
              <a:rPr lang="en-CA" sz="4000"/>
              <a:t>(Federal Student Work Experience Program)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0EC17-1607-B82E-5777-57B5138CEC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46142" y="1784555"/>
            <a:ext cx="7322573" cy="578874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/>
              <a:t>Create GC Jobs account to apply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/>
              <a:t>International students are eligible too!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/>
              <a:t>Always select the maximum number of options for each question (area of study, type of work, work location)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/>
              <a:t>Tidy formatting in </a:t>
            </a:r>
            <a:r>
              <a:rPr lang="en-CA" sz="2800" err="1"/>
              <a:t>copy+pasted</a:t>
            </a:r>
            <a:r>
              <a:rPr lang="en-CA" sz="2800"/>
              <a:t> resume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/>
              <a:t>Pay </a:t>
            </a:r>
            <a:r>
              <a:rPr lang="en-CA" sz="2800" b="1"/>
              <a:t>close </a:t>
            </a:r>
            <a:r>
              <a:rPr lang="en-CA" sz="2800"/>
              <a:t>attention to deadlines in emails during job processes – responses are often required within 12 – 24 hours of being notified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1D698-B776-169D-38FF-7E025360649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7616DA-A6FC-C620-68BF-7E4A3DD2F3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297" b="17880"/>
          <a:stretch/>
        </p:blipFill>
        <p:spPr>
          <a:xfrm>
            <a:off x="340210" y="1852267"/>
            <a:ext cx="7019236" cy="20426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19A691-D3D7-91EF-EAF6-9577E7A154F0}"/>
              </a:ext>
            </a:extLst>
          </p:cNvPr>
          <p:cNvSpPr/>
          <p:nvPr/>
        </p:nvSpPr>
        <p:spPr>
          <a:xfrm>
            <a:off x="508402" y="4917243"/>
            <a:ext cx="6682851" cy="2241755"/>
          </a:xfrm>
          <a:prstGeom prst="roundRect">
            <a:avLst/>
          </a:prstGeom>
          <a:solidFill>
            <a:srgbClr val="5892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>
                <a:solidFill>
                  <a:schemeClr val="bg1"/>
                </a:solidFill>
              </a:rPr>
              <a:t>FSWEP is an </a:t>
            </a:r>
            <a:r>
              <a:rPr lang="en-CA" sz="2400" b="1">
                <a:solidFill>
                  <a:schemeClr val="bg1"/>
                </a:solidFill>
              </a:rPr>
              <a:t>inventory</a:t>
            </a:r>
            <a:r>
              <a:rPr lang="en-CA" sz="2400">
                <a:solidFill>
                  <a:schemeClr val="bg1"/>
                </a:solidFill>
              </a:rPr>
              <a:t> – this means your application is entered into a general “reservoir” of applicants, and is sent to hiring managers to review based on how much you match their desired hiring criteria.</a:t>
            </a:r>
          </a:p>
        </p:txBody>
      </p:sp>
    </p:spTree>
    <p:extLst>
      <p:ext uri="{BB962C8B-B14F-4D97-AF65-F5344CB8AC3E}">
        <p14:creationId xmlns:p14="http://schemas.microsoft.com/office/powerpoint/2010/main" val="931827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718EA-B9DF-D490-357E-4AF32347B5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99567"/>
            <a:ext cx="7484181" cy="51308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2500" dirty="0"/>
              <a:t>No account required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2500" dirty="0"/>
              <a:t>Under ‘Job Category’, select area of study and ‘Internships’ and ‘Student Summer Employment Opportunities’ (if work term is in the Summer 2025 semester)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2500" dirty="0"/>
              <a:t>Co-op jobs are often posted directly with the Co-op and Career Centre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2500" dirty="0"/>
              <a:t>Consider applying through the Diverse Talent Stream (if you meet the requirements) to have your application considered in multiple hiring streams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3476C-3F73-09A2-3D8B-8E7DAF5EA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0569352" cy="1335973"/>
          </a:xfrm>
        </p:spPr>
        <p:txBody>
          <a:bodyPr anchor="t">
            <a:normAutofit/>
          </a:bodyPr>
          <a:lstStyle/>
          <a:p>
            <a:r>
              <a:rPr lang="en-CA" dirty="0"/>
              <a:t>Ontario Public Service Careers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62924-5503-87BC-179A-3FB988E5F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973" y="1969994"/>
            <a:ext cx="7422477" cy="1948401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5680ED7-2551-2F26-EEB9-EEC14E17D6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52973" y="4563939"/>
            <a:ext cx="5941306" cy="76745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https://www.gojobs.gov.on.ca/Search.aspx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CCFBA-D821-2602-4860-4710B96100B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EF3F5F5-7776-394F-A41F-3BAFC9CC9F8E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37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BA1F-EDFD-AA09-E15D-69AF3C61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City of Ottawa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0C2A1-67EE-9F71-F43D-22F9EEF1CE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900681"/>
            <a:ext cx="14382783" cy="564311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Demonstrate that you meet all </a:t>
            </a:r>
            <a:r>
              <a:rPr lang="en-CA" sz="2800" b="1" dirty="0"/>
              <a:t>Education and Experience </a:t>
            </a:r>
            <a:r>
              <a:rPr lang="en-CA" sz="2800" dirty="0"/>
              <a:t>job requirements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Answer all screening questions – used to screen out unqualified candidates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Language requirements: All positions require strong English skills, some positions are bilingual (French/English)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sz="2800" dirty="0"/>
              <a:t>Make language competency clear in your application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Complete your </a:t>
            </a:r>
            <a:r>
              <a:rPr lang="en-CA" sz="2800" b="1" dirty="0"/>
              <a:t>candidate profile </a:t>
            </a:r>
            <a:r>
              <a:rPr lang="en-CA" sz="2800" dirty="0"/>
              <a:t>and attach your </a:t>
            </a:r>
            <a:r>
              <a:rPr lang="en-CA" sz="2800" b="1" dirty="0"/>
              <a:t>proof of enrollment</a:t>
            </a:r>
            <a:endParaRPr lang="en-CA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Complete the optional self-ID questionnaire – managers are asked to refer to questionnaire when making hiring decisions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All applications are screened by staffing officers, then passed on to hiring managers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EF49F-09BB-494F-0A89-C30F82341E1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36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2E1E-9672-2E3C-0A7A-6FBF852C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Job Boards / 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55328-0A87-F2CE-0602-3CD3B029B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D3723-F16F-B2A7-11C1-E3D5683001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2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Book of Lists – obj.ca/BOL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743" y="1436351"/>
            <a:ext cx="9790642" cy="68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46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BBB4-785E-F67B-5DDD-27C8F4EA5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Online Job Boards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C37F5-D149-3931-C326-A2A87B0780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640631"/>
            <a:ext cx="4673339" cy="4426485"/>
          </a:xfrm>
        </p:spPr>
        <p:txBody>
          <a:bodyPr vert="horz" lIns="0" tIns="0" rIns="0" bIns="0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hlinkClick r:id="rId2"/>
              </a:rPr>
              <a:t>Charity Village</a:t>
            </a:r>
            <a:r>
              <a:rPr lang="en-US"/>
              <a:t> </a:t>
            </a:r>
            <a:endParaRPr lang="en-US"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hlinkClick r:id="rId3"/>
              </a:rPr>
              <a:t>Glassdoor</a:t>
            </a:r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cs typeface="Arial"/>
                <a:hlinkClick r:id="rId4"/>
              </a:rPr>
              <a:t>Canada's Top 100 Employers</a:t>
            </a:r>
            <a:endParaRPr lang="en-US"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cs typeface="Arial"/>
                <a:hlinkClick r:id="rId5"/>
              </a:rPr>
              <a:t>Monster.ca</a:t>
            </a:r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4AF7A-E781-16C3-1FAA-D07431A5F0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86221" y="2662933"/>
            <a:ext cx="4644000" cy="441960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err="1">
                <a:hlinkClick r:id="rId6"/>
              </a:rPr>
              <a:t>Technata</a:t>
            </a:r>
            <a:r>
              <a:rPr lang="en-US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err="1">
                <a:hlinkClick r:id="rId7"/>
              </a:rPr>
              <a:t>Goodwork</a:t>
            </a:r>
            <a:r>
              <a:rPr lang="en-US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err="1">
                <a:hlinkClick r:id="rId8"/>
              </a:rPr>
              <a:t>Hcareers</a:t>
            </a:r>
            <a:r>
              <a:rPr lang="en-US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hlinkClick r:id="rId9"/>
              </a:rPr>
              <a:t>Engineering Careers</a:t>
            </a:r>
            <a:endParaRPr lang="en-US"/>
          </a:p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E52D2C-0A5C-90A5-E9C2-02DBF09784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883" y="1929960"/>
            <a:ext cx="4673338" cy="710671"/>
          </a:xfrm>
        </p:spPr>
        <p:txBody>
          <a:bodyPr/>
          <a:lstStyle/>
          <a:p>
            <a:r>
              <a:rPr lang="en-US"/>
              <a:t>General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DC73F1-65AF-D22A-E29B-1940BB54FE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86221" y="1929959"/>
            <a:ext cx="4644000" cy="710671"/>
          </a:xfrm>
        </p:spPr>
        <p:txBody>
          <a:bodyPr/>
          <a:lstStyle/>
          <a:p>
            <a:r>
              <a:rPr lang="en-US"/>
              <a:t>Industry-Specific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7E7937-6A08-89CA-C98D-2FBF68D6009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1" name="Round Diagonal Corner Rectangle 2">
            <a:extLst>
              <a:ext uri="{FF2B5EF4-FFF2-40B4-BE49-F238E27FC236}">
                <a16:creationId xmlns:a16="http://schemas.microsoft.com/office/drawing/2014/main" id="{943BC8F7-40CC-E262-4079-39DE935DE644}"/>
              </a:ext>
            </a:extLst>
          </p:cNvPr>
          <p:cNvSpPr/>
          <p:nvPr/>
        </p:nvSpPr>
        <p:spPr>
          <a:xfrm>
            <a:off x="10412360" y="1783386"/>
            <a:ext cx="5243053" cy="3924240"/>
          </a:xfrm>
          <a:prstGeom prst="round2Diag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TIP</a:t>
            </a:r>
          </a:p>
          <a:p>
            <a:pPr algn="ctr"/>
            <a:r>
              <a:rPr lang="en-US" sz="2800"/>
              <a:t>Check out </a:t>
            </a:r>
            <a:r>
              <a:rPr lang="en-US" sz="2800" b="1"/>
              <a:t>company websites </a:t>
            </a:r>
            <a:r>
              <a:rPr lang="en-US" sz="2800"/>
              <a:t>to see if they have jobs posted that are not advertised on online job boards</a:t>
            </a:r>
          </a:p>
        </p:txBody>
      </p:sp>
    </p:spTree>
    <p:extLst>
      <p:ext uri="{BB962C8B-B14F-4D97-AF65-F5344CB8AC3E}">
        <p14:creationId xmlns:p14="http://schemas.microsoft.com/office/powerpoint/2010/main" val="1481110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7a89436-850c-4487-89ed-13264fac8eda" xsi:nil="true"/>
    <lcf76f155ced4ddcb4097134ff3c332f xmlns="5298fec9-9a2d-4764-ad3b-50daf37b47b1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DCA9CBA33062489764D7ED3B2B2250" ma:contentTypeVersion="20" ma:contentTypeDescription="Create a new document." ma:contentTypeScope="" ma:versionID="c50b20d2920efdead535e00fe4cbc6eb">
  <xsd:schema xmlns:xsd="http://www.w3.org/2001/XMLSchema" xmlns:xs="http://www.w3.org/2001/XMLSchema" xmlns:p="http://schemas.microsoft.com/office/2006/metadata/properties" xmlns:ns1="http://schemas.microsoft.com/sharepoint/v3" xmlns:ns2="5298fec9-9a2d-4764-ad3b-50daf37b47b1" xmlns:ns3="e7a89436-850c-4487-89ed-13264fac8eda" targetNamespace="http://schemas.microsoft.com/office/2006/metadata/properties" ma:root="true" ma:fieldsID="8dc66713b4295115012ed1a6a67fceee" ns1:_="" ns2:_="" ns3:_="">
    <xsd:import namespace="http://schemas.microsoft.com/sharepoint/v3"/>
    <xsd:import namespace="5298fec9-9a2d-4764-ad3b-50daf37b47b1"/>
    <xsd:import namespace="e7a89436-850c-4487-89ed-13264fac8e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8fec9-9a2d-4764-ad3b-50daf37b47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a89436-850c-4487-89ed-13264fac8ed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0c25bcf-0696-4036-87f5-edc22f8a4247}" ma:internalName="TaxCatchAll" ma:showField="CatchAllData" ma:web="e7a89436-850c-4487-89ed-13264fac8e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D409FB-B6BB-4AAB-B6F2-D11A466016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E0DB30-54C8-4E01-8C97-FFB7B61BF0A8}">
  <ds:schemaRefs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5298fec9-9a2d-4764-ad3b-50daf37b47b1"/>
    <ds:schemaRef ds:uri="http://schemas.microsoft.com/sharepoint/v3"/>
    <ds:schemaRef ds:uri="e7a89436-850c-4487-89ed-13264fac8eda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7031C55-2DEE-464C-84CC-790F956A9C65}">
  <ds:schemaRefs>
    <ds:schemaRef ds:uri="5298fec9-9a2d-4764-ad3b-50daf37b47b1"/>
    <ds:schemaRef ds:uri="e7a89436-850c-4487-89ed-13264fac8e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1441</Words>
  <Application>Microsoft Office PowerPoint</Application>
  <PresentationFormat>Custom</PresentationFormat>
  <Paragraphs>165</Paragraphs>
  <Slides>23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Arial,Sans-Serif</vt:lpstr>
      <vt:lpstr>Calibri</vt:lpstr>
      <vt:lpstr>Courier New</vt:lpstr>
      <vt:lpstr>Wingdings</vt:lpstr>
      <vt:lpstr>Office Theme</vt:lpstr>
      <vt:lpstr>Choose Your Job Board</vt:lpstr>
      <vt:lpstr>Current Job Market Insights</vt:lpstr>
      <vt:lpstr>Current Job Market Insights</vt:lpstr>
      <vt:lpstr>Major Job Boards in Canada</vt:lpstr>
      <vt:lpstr>Online Job Board Best Practices</vt:lpstr>
      <vt:lpstr>LinkedIn Best Practices</vt:lpstr>
      <vt:lpstr>LinkedIn as a Job Search Tool</vt:lpstr>
      <vt:lpstr>LinkedIn &amp; Job Search</vt:lpstr>
      <vt:lpstr>PowerPoint Presentation</vt:lpstr>
      <vt:lpstr>LinkedIn &amp; Networking</vt:lpstr>
      <vt:lpstr>Indeed Best Practices</vt:lpstr>
      <vt:lpstr>Search Parameters</vt:lpstr>
      <vt:lpstr>Applications</vt:lpstr>
      <vt:lpstr>Employer Feedback – Using Indeed</vt:lpstr>
      <vt:lpstr>Government Job Boards Best Practices </vt:lpstr>
      <vt:lpstr>Job Bank</vt:lpstr>
      <vt:lpstr>Job Bank</vt:lpstr>
      <vt:lpstr>FSWEP (Federal Student Work Experience Program)</vt:lpstr>
      <vt:lpstr>Ontario Public Service Careers</vt:lpstr>
      <vt:lpstr>City of Ottawa</vt:lpstr>
      <vt:lpstr>Other Job Boards / Resources</vt:lpstr>
      <vt:lpstr>Book of Lists – obj.ca/BOL</vt:lpstr>
      <vt:lpstr>Online Job Boards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Katherine Yamamoto</cp:lastModifiedBy>
  <cp:revision>2</cp:revision>
  <cp:lastPrinted>2019-04-04T18:19:19Z</cp:lastPrinted>
  <dcterms:created xsi:type="dcterms:W3CDTF">2016-12-21T16:02:28Z</dcterms:created>
  <dcterms:modified xsi:type="dcterms:W3CDTF">2025-08-06T17:09:54Z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0x010100A4DCA9CBA33062489764D7ED3B2B2250</vt:lpwstr>
  </property>
  <property fmtid="{D5CDD505-2E9C-101B-9397-08002B2CF9AE}" pid="3" name="MediaServiceImageTags">
    <vt:lpwstr/>
  </property>
</Properties>
</file>