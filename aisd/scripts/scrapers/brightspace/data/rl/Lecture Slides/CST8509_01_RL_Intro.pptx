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7" r:id="rId2"/>
    <p:sldId id="355" r:id="rId3"/>
    <p:sldId id="354" r:id="rId4"/>
    <p:sldId id="375" r:id="rId5"/>
    <p:sldId id="376" r:id="rId6"/>
    <p:sldId id="403" r:id="rId7"/>
    <p:sldId id="404" r:id="rId8"/>
    <p:sldId id="405" r:id="rId9"/>
    <p:sldId id="406" r:id="rId10"/>
    <p:sldId id="407" r:id="rId11"/>
    <p:sldId id="356" r:id="rId12"/>
    <p:sldId id="334" r:id="rId13"/>
    <p:sldId id="36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421" r:id="rId28"/>
    <p:sldId id="422" r:id="rId29"/>
    <p:sldId id="423" r:id="rId30"/>
    <p:sldId id="424" r:id="rId31"/>
    <p:sldId id="425" r:id="rId32"/>
    <p:sldId id="426" r:id="rId33"/>
    <p:sldId id="427" r:id="rId34"/>
    <p:sldId id="428" r:id="rId35"/>
    <p:sldId id="429" r:id="rId36"/>
    <p:sldId id="430" r:id="rId37"/>
    <p:sldId id="341" r:id="rId38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3" autoAdjust="0"/>
    <p:restoredTop sz="94674" autoAdjust="0"/>
  </p:normalViewPr>
  <p:slideViewPr>
    <p:cSldViewPr snapToGrid="0" snapToObjects="1">
      <p:cViewPr varScale="1">
        <p:scale>
          <a:sx n="93" d="100"/>
          <a:sy n="93" d="100"/>
        </p:scale>
        <p:origin x="568" y="20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elleyt@algonquincollege.com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list=PLzuuYNsE1EZAXYR4FJ75jcJseBmo4KQ9-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Reinforcement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443345"/>
            <a:ext cx="9475914" cy="903541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346887"/>
            <a:ext cx="14904913" cy="67591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CST8509: Reinforcement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Meet your Professors</a:t>
            </a:r>
          </a:p>
          <a:p>
            <a:pPr lvl="1" indent="0">
              <a:buNone/>
            </a:pPr>
            <a:r>
              <a:rPr lang="en-CA" dirty="0"/>
              <a:t>Lectures: Todd Kelley</a:t>
            </a:r>
          </a:p>
          <a:p>
            <a:pPr lvl="1" indent="0">
              <a:buNone/>
            </a:pPr>
            <a:r>
              <a:rPr lang="en-CA" dirty="0"/>
              <a:t>Office: T315</a:t>
            </a:r>
          </a:p>
          <a:p>
            <a:pPr lvl="1" indent="0">
              <a:buNone/>
            </a:pPr>
            <a:r>
              <a:rPr lang="en-CA" dirty="0"/>
              <a:t>Phone: 613-727-4723 x7474</a:t>
            </a:r>
          </a:p>
          <a:p>
            <a:pPr lvl="1" indent="0">
              <a:buNone/>
            </a:pPr>
            <a:r>
              <a:rPr lang="en-CA" dirty="0"/>
              <a:t>Email: </a:t>
            </a:r>
            <a:r>
              <a:rPr lang="en-CA" dirty="0">
                <a:hlinkClick r:id="rId2"/>
              </a:rPr>
              <a:t>kelleyt@algonquincollege.com</a:t>
            </a:r>
            <a:endParaRPr lang="en-CA" dirty="0"/>
          </a:p>
          <a:p>
            <a:pPr lvl="1" indent="0">
              <a:buNone/>
            </a:pPr>
            <a:r>
              <a:rPr lang="en-CA" dirty="0"/>
              <a:t>Labs: Ali Mohamed Ali &lt;mohamea2@algonquincollege.com&gt;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Contact your Professor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email me with enquiries (can expect reply same or next day)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email me to arrange office-hour style meetings</a:t>
            </a:r>
          </a:p>
        </p:txBody>
      </p:sp>
    </p:spTree>
    <p:extLst>
      <p:ext uri="{BB962C8B-B14F-4D97-AF65-F5344CB8AC3E}">
        <p14:creationId xmlns:p14="http://schemas.microsoft.com/office/powerpoint/2010/main" val="82662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8214" y="294315"/>
            <a:ext cx="9475914" cy="578521"/>
          </a:xfrm>
        </p:spPr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728214" y="1057812"/>
            <a:ext cx="14904913" cy="728262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Weekly schedule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Lecture Mondays 1:00-3:00pm in C346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Lab Section 101 Wednesdays 5:00 to 7:00pm in B320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Lab Section 102 Wednesdays 7:00 to 9:00pm in B119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One hour (average) of asynchronous (Hybrid) activity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Let's look at the Course Section Information on Brightspace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Let's look at the submission requirements on Brightspace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Late lab/assignment submissions are subject to a penalty: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10% &lt; 1 week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100% &gt; 1 week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11752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8C2CD-1078-134F-2720-72965A81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435856"/>
            <a:ext cx="9475914" cy="1335973"/>
          </a:xfrm>
        </p:spPr>
        <p:txBody>
          <a:bodyPr/>
          <a:lstStyle/>
          <a:p>
            <a:r>
              <a:rPr lang="en-US" dirty="0"/>
              <a:t>Expectations for Assignments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C0148-4F48-4F9F-6860-F09B3D3B8F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468582"/>
            <a:ext cx="14122319" cy="6927273"/>
          </a:xfrm>
        </p:spPr>
        <p:txBody>
          <a:bodyPr/>
          <a:lstStyle/>
          <a:p>
            <a:r>
              <a:rPr lang="en-US" dirty="0"/>
              <a:t>Unless an Assignment or Lab explicitly states that it is a group activity, ALL practical and theory work in this course is individual work: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must complete solutions by yourself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are allowed to participate in study groups and use </a:t>
            </a:r>
            <a:r>
              <a:rPr lang="en-US" dirty="0" err="1"/>
              <a:t>ChatGPT</a:t>
            </a:r>
            <a:r>
              <a:rPr lang="en-US" dirty="0"/>
              <a:t> or similar facilities.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are allowed to help each other understand the concepts of the course.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are not allowed to copy or use for any purpose any portion of a solution from another student, from </a:t>
            </a:r>
            <a:r>
              <a:rPr lang="en-US" dirty="0" err="1"/>
              <a:t>ChatGPT</a:t>
            </a:r>
            <a:r>
              <a:rPr lang="en-US" dirty="0"/>
              <a:t>, or from any other source.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are not allowed to provide any portion of your solution to anyone else.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36B3D-DF09-450C-D21F-3FD1098A5FD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1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1B08E-539F-8F36-A888-14E980E4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Success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597FD-6DEE-0218-DC5C-97080E1CC8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Assignments are large bodies of work that cannot reasonably be completed in one or two sessions, even long sessions</a:t>
            </a:r>
          </a:p>
          <a:p>
            <a:r>
              <a:rPr lang="en-US" dirty="0"/>
              <a:t>Get started early</a:t>
            </a:r>
          </a:p>
          <a:p>
            <a:r>
              <a:rPr lang="en-US" dirty="0"/>
              <a:t>Get clarification and help early</a:t>
            </a:r>
          </a:p>
          <a:p>
            <a:r>
              <a:rPr lang="en-US" dirty="0"/>
              <a:t>Make good use of Lab Periods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7D104-E974-AE9C-3EE1-697E560598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7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895B-E59F-3644-24E8-A53491DD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Success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CC3DE-39BF-94A5-B8D2-2F219DE3B4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72529"/>
            <a:ext cx="11615780" cy="5762805"/>
          </a:xfrm>
        </p:spPr>
        <p:txBody>
          <a:bodyPr/>
          <a:lstStyle/>
          <a:p>
            <a:r>
              <a:rPr lang="en-US" dirty="0"/>
              <a:t>Rule One: 15 minute rule</a:t>
            </a:r>
          </a:p>
          <a:p>
            <a:pPr lvl="1"/>
            <a:r>
              <a:rPr lang="en-US" dirty="0"/>
              <a:t>if you are frustrated and not making progress for 15 minutes, you need to</a:t>
            </a:r>
          </a:p>
          <a:p>
            <a:pPr lvl="2"/>
            <a:r>
              <a:rPr lang="en-US" dirty="0"/>
              <a:t>take a break, move on to another part of the assignment, switch to other course work, come back to it later</a:t>
            </a:r>
          </a:p>
          <a:p>
            <a:pPr lvl="2"/>
            <a:r>
              <a:rPr lang="en-US" dirty="0"/>
              <a:t>sleep on it</a:t>
            </a:r>
          </a:p>
          <a:p>
            <a:pPr lvl="2"/>
            <a:r>
              <a:rPr lang="en-US" dirty="0"/>
              <a:t>seek help from a peer</a:t>
            </a:r>
          </a:p>
          <a:p>
            <a:pPr lvl="2"/>
            <a:r>
              <a:rPr lang="en-US" dirty="0"/>
              <a:t>seek help from the instructor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F0F9E-04A4-FCDB-1511-F8D659320A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9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D0A6-8789-3EAC-375B-6B330D54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Success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2B41D-01E7-37A7-D017-3341FB288E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8980" y="1715217"/>
            <a:ext cx="13381420" cy="5130800"/>
          </a:xfrm>
        </p:spPr>
        <p:txBody>
          <a:bodyPr/>
          <a:lstStyle/>
          <a:p>
            <a:r>
              <a:rPr lang="en-US" dirty="0"/>
              <a:t>Rule Two: Don't leave it to the last few days before the due date</a:t>
            </a:r>
          </a:p>
          <a:p>
            <a:pPr lvl="1"/>
            <a:r>
              <a:rPr lang="en-US" dirty="0"/>
              <a:t>Rule One is not feasible without Rule Two</a:t>
            </a:r>
          </a:p>
          <a:p>
            <a:pPr lvl="1"/>
            <a:r>
              <a:rPr lang="en-US" dirty="0"/>
              <a:t>Get started early, read through and understand the focus of the assignment and the tasks, as soon as you can</a:t>
            </a:r>
          </a:p>
          <a:p>
            <a:pPr lvl="1"/>
            <a:r>
              <a:rPr lang="en-US" dirty="0"/>
              <a:t>Keep up with the course pace (every week, you're expected to put in about 5 hours of time in addition to 5 hours of Hybrid Activities, Lectures,  and Labs)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7638B-D0F2-3708-F6D1-80A3910D01D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74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8623-6A9E-2C25-D9E1-54C73EF9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429491"/>
            <a:ext cx="9475914" cy="1674847"/>
          </a:xfrm>
        </p:spPr>
        <p:txBody>
          <a:bodyPr/>
          <a:lstStyle/>
          <a:p>
            <a:r>
              <a:rPr lang="en-US" dirty="0"/>
              <a:t>Excessive Help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23D8A-DE33-C56D-9D81-59BD545E94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223889"/>
            <a:ext cx="14056669" cy="6865034"/>
          </a:xfrm>
        </p:spPr>
        <p:txBody>
          <a:bodyPr/>
          <a:lstStyle/>
          <a:p>
            <a:r>
              <a:rPr lang="en-US" dirty="0"/>
              <a:t>You are trying to increase your OWN knowledge and skill so that you can convince an employer to hire you</a:t>
            </a:r>
          </a:p>
          <a:p>
            <a:r>
              <a:rPr lang="en-US" dirty="0"/>
              <a:t>Beware of receiving excessive help</a:t>
            </a:r>
          </a:p>
          <a:p>
            <a:r>
              <a:rPr lang="en-US" dirty="0"/>
              <a:t>Getting the right amount of help when it’s needed is important</a:t>
            </a:r>
          </a:p>
          <a:p>
            <a:r>
              <a:rPr lang="en-US" dirty="0"/>
              <a:t>It’s just as important to not get too much help</a:t>
            </a:r>
          </a:p>
          <a:p>
            <a:r>
              <a:rPr lang="en-US" dirty="0"/>
              <a:t>Do it yourself (you need to learn how to): </a:t>
            </a:r>
          </a:p>
          <a:p>
            <a:pPr lvl="1"/>
            <a:r>
              <a:rPr lang="en-US" dirty="0"/>
              <a:t>read EVERY word of the Lab and Assignment Documents</a:t>
            </a:r>
          </a:p>
          <a:p>
            <a:pPr lvl="1"/>
            <a:r>
              <a:rPr lang="en-US" dirty="0"/>
              <a:t>consult course materials and resources</a:t>
            </a:r>
          </a:p>
          <a:p>
            <a:pPr lvl="1"/>
            <a:r>
              <a:rPr lang="en-US" dirty="0"/>
              <a:t>apply what you read and what you see in videos</a:t>
            </a:r>
          </a:p>
          <a:p>
            <a:pPr lvl="1"/>
            <a:r>
              <a:rPr lang="en-US" dirty="0"/>
              <a:t>solve apparent inconsistencies/problems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A4147-F43F-74B0-04CD-47E53C3391D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7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411E-C049-CDF8-49E2-B86EC136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Don't take shortcuts in Labs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8996-2316-AF3B-EEED-60ED40E3B2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420837"/>
            <a:ext cx="13401882" cy="6780628"/>
          </a:xfrm>
        </p:spPr>
        <p:txBody>
          <a:bodyPr/>
          <a:lstStyle/>
          <a:p>
            <a:r>
              <a:rPr lang="en-US" dirty="0"/>
              <a:t>Like excessive help, shortcuts are bad</a:t>
            </a:r>
          </a:p>
          <a:p>
            <a:r>
              <a:rPr lang="en-US" dirty="0"/>
              <a:t>Suppose you are training for a marathon</a:t>
            </a:r>
          </a:p>
          <a:p>
            <a:pPr lvl="1"/>
            <a:r>
              <a:rPr lang="en-US" dirty="0"/>
              <a:t>your coach wants you to run a five kilometer training route</a:t>
            </a:r>
          </a:p>
          <a:p>
            <a:pPr lvl="1"/>
            <a:r>
              <a:rPr lang="en-US" dirty="0"/>
              <a:t>You feel overloaded and find a shortcut on the route to reduce it to one kilometer</a:t>
            </a:r>
          </a:p>
          <a:p>
            <a:pPr lvl="1"/>
            <a:r>
              <a:rPr lang="en-US" dirty="0"/>
              <a:t>You saved so much time doing it your way!</a:t>
            </a:r>
          </a:p>
          <a:p>
            <a:pPr lvl="1"/>
            <a:r>
              <a:rPr lang="en-US" dirty="0"/>
              <a:t>The short cut took so much less time and effort: where’s the problem?</a:t>
            </a:r>
          </a:p>
          <a:p>
            <a:r>
              <a:rPr lang="en-US" dirty="0"/>
              <a:t>If you cannot explain your own work in a demonstration, you risk getting a zero on the lab or assignment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B53B3-9F24-68DB-9ADD-42AED80F8E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98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BEA3-7CE9-713E-05B8-BE3FD6B7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F63D5-D927-84BC-D521-E345E3BC7B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17785"/>
            <a:ext cx="15444706" cy="5917549"/>
          </a:xfrm>
        </p:spPr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Cheating is unacceptable</a:t>
            </a:r>
          </a:p>
          <a:p>
            <a:r>
              <a:rPr lang="en-US" sz="3200" dirty="0">
                <a:latin typeface="Arial"/>
                <a:cs typeface="Arial"/>
              </a:rPr>
              <a:t>You may not copy or provide code or text: don'</a:t>
            </a:r>
            <a:r>
              <a:rPr lang="en-US" altLang="ja-JP" sz="3200" dirty="0">
                <a:latin typeface="Arial"/>
                <a:cs typeface="Arial"/>
              </a:rPr>
              <a:t>t plagiarize</a:t>
            </a:r>
          </a:p>
          <a:p>
            <a:r>
              <a:rPr lang="en-US" sz="3200" dirty="0">
                <a:latin typeface="Arial"/>
                <a:cs typeface="Arial"/>
              </a:rPr>
              <a:t>The person you copy from is in just as much trouble as you</a:t>
            </a:r>
          </a:p>
          <a:p>
            <a:r>
              <a:rPr lang="en-US" sz="3200" dirty="0">
                <a:latin typeface="Arial"/>
                <a:cs typeface="Arial"/>
              </a:rPr>
              <a:t>Adherence to acceptable standards of academic honesty is an important aspect of the learning process at Algonquin College. Academic work submitted by a student is evaluated on the assumption that the work presented by the student is his or her own, unless designated otherwise. For further details consult Algonquin College Policies AA18(https://</a:t>
            </a:r>
            <a:r>
              <a:rPr lang="en-US" sz="3200" dirty="0" err="1">
                <a:latin typeface="Arial"/>
                <a:cs typeface="Arial"/>
              </a:rPr>
              <a:t>www.algonquincollege.com</a:t>
            </a:r>
            <a:r>
              <a:rPr lang="en-US" sz="3200" dirty="0">
                <a:latin typeface="Arial"/>
                <a:cs typeface="Arial"/>
              </a:rPr>
              <a:t>/policies/files/2016/04/AA18.pdf) and</a:t>
            </a:r>
          </a:p>
          <a:p>
            <a:r>
              <a:rPr lang="en-US" sz="3200" dirty="0">
                <a:latin typeface="Arial"/>
                <a:cs typeface="Arial"/>
              </a:rPr>
              <a:t>AA20 (https://</a:t>
            </a:r>
            <a:r>
              <a:rPr lang="en-US" sz="3200" dirty="0" err="1">
                <a:latin typeface="Arial"/>
                <a:cs typeface="Arial"/>
              </a:rPr>
              <a:t>www.algonquincollege.com</a:t>
            </a:r>
            <a:r>
              <a:rPr lang="en-US" sz="3200" dirty="0">
                <a:latin typeface="Arial"/>
                <a:cs typeface="Arial"/>
              </a:rPr>
              <a:t>/policies/files/2016/04/AA20.pdf)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DD36F-29AF-45BD-C140-9E3F1263D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02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Overview of this course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639704"/>
            <a:ext cx="14904913" cy="66314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Introduction to RL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Foundational Principles of RL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Mathematical definitions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RL Algorithms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Solving RL problems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Game-based, maze based, </a:t>
            </a:r>
            <a:r>
              <a:rPr lang="en-CA" dirty="0" err="1"/>
              <a:t>etc</a:t>
            </a:r>
            <a:endParaRPr lang="en-CA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Robotics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CA" dirty="0"/>
              <a:t>Create 3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CA" dirty="0" err="1"/>
              <a:t>OpenAI</a:t>
            </a:r>
            <a:r>
              <a:rPr lang="en-CA" dirty="0"/>
              <a:t> Gymnasium/Gym, Gazebo</a:t>
            </a:r>
          </a:p>
        </p:txBody>
      </p:sp>
    </p:spTree>
    <p:extLst>
      <p:ext uri="{BB962C8B-B14F-4D97-AF65-F5344CB8AC3E}">
        <p14:creationId xmlns:p14="http://schemas.microsoft.com/office/powerpoint/2010/main" val="235655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Week 1 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23717" y="1611996"/>
            <a:ext cx="14904913" cy="6492913"/>
          </a:xfrm>
        </p:spPr>
        <p:txBody>
          <a:bodyPr/>
          <a:lstStyle/>
          <a:p>
            <a:r>
              <a:rPr lang="en-US" dirty="0"/>
              <a:t>What is Reinforcement Learning?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US" dirty="0"/>
              <a:t>Agent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US" dirty="0"/>
              <a:t>Environment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US" dirty="0"/>
              <a:t>Reward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US" dirty="0"/>
              <a:t>Policy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US" dirty="0"/>
              <a:t>Value Function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US" dirty="0"/>
              <a:t>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96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0" y="768365"/>
            <a:ext cx="13665119" cy="578521"/>
          </a:xfrm>
        </p:spPr>
        <p:txBody>
          <a:bodyPr/>
          <a:lstStyle/>
          <a:p>
            <a:r>
              <a:rPr lang="en-US" dirty="0"/>
              <a:t>From CST8504: Reinforcement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470454"/>
            <a:ext cx="14904913" cy="64543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Reinforcement Learning is a third type of Machine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Based on Markov Decision Processes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Used for agent-based systems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Agent uses a policy for choosing an action in each time step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Each action taken results in a reward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The goal is for the agent to learn a policy that maximizes the reward</a:t>
            </a:r>
          </a:p>
          <a:p>
            <a:pPr lvl="1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7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5425-DB2F-228E-3744-DA30ADC0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1397876" cy="1335973"/>
          </a:xfrm>
        </p:spPr>
        <p:txBody>
          <a:bodyPr/>
          <a:lstStyle/>
          <a:p>
            <a:r>
              <a:rPr lang="en-US" dirty="0"/>
              <a:t>Who's who of Reinforcement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5562B-38A6-EA20-FD40-A394E60329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4108463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Andrew </a:t>
            </a:r>
            <a:r>
              <a:rPr lang="en-US" dirty="0" err="1"/>
              <a:t>Barto</a:t>
            </a:r>
            <a:r>
              <a:rPr lang="en-US" dirty="0"/>
              <a:t>, University of Massachusetts Amherst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Richard Sutton, University of Alberta (Co-founder of Edmonton office of DeepMind)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textbook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David Silver, University of Alberta PhD graduate, now at DeepMind and University College London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David Silver's RL course on </a:t>
            </a:r>
            <a:r>
              <a:rPr lang="en-US" dirty="0" err="1"/>
              <a:t>Youtube</a:t>
            </a: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https://www.youtube.com/playlist?list=PLzuuYNsE1EZAXYR4FJ75jcJseBmo4KQ9-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E1163-DD98-3AEF-01D5-7021163994C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09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58D2-05DC-4D42-60EF-E8FDEA5C9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broad and applicable is Reinforcement Learning?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08BA1-E918-DCB7-27CC-925EFA261B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 David Silver lecture 1 (</a:t>
            </a:r>
            <a:r>
              <a:rPr lang="en-US" dirty="0" err="1"/>
              <a:t>youtube</a:t>
            </a:r>
            <a:r>
              <a:rPr lang="en-US" dirty="0"/>
              <a:t>), 6:29</a:t>
            </a:r>
          </a:p>
          <a:p>
            <a:r>
              <a:rPr lang="en-US" dirty="0"/>
              <a:t> (</a:t>
            </a:r>
            <a:r>
              <a:rPr lang="en-US" dirty="0" err="1"/>
              <a:t>venn</a:t>
            </a:r>
            <a:r>
              <a:rPr lang="en-US" dirty="0"/>
              <a:t> diagrams showing RL is at the intersection of many different fields of human endeavor)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49233-57FF-C10F-B0D4-8255144677E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8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F96D-7EEE-D548-C08E-CE389E53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vs Supervised and Unsupervised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BBF1D-0C74-DF97-3779-6FD2F9AB99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4394293" cy="5130800"/>
          </a:xfrm>
        </p:spPr>
        <p:txBody>
          <a:bodyPr/>
          <a:lstStyle/>
          <a:p>
            <a:r>
              <a:rPr lang="en-CA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does reinforcement learning compare to other machine learning (supervised, and unsupervised)?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David Silver lecture 1 -  9:35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BC1EE-5C1A-3D20-2C94-47973A454A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451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66B0-A89B-C1E8-1545-D9C4541F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Examples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AB21-89BE-66D9-4F8C-652F20EE42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44877"/>
            <a:ext cx="14394293" cy="55859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David Silver Lecture 1: 12:45 - examples of RL, starting with stunt </a:t>
            </a:r>
            <a:r>
              <a:rPr lang="en-US" dirty="0" err="1"/>
              <a:t>manoeuvers</a:t>
            </a:r>
            <a:r>
              <a:rPr lang="en-US" dirty="0"/>
              <a:t> model helicopter (training is done offline with a model of a helicopter world)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David Silver Lecture 1: after helicopter - video games (many Atari games better than humans) decisions at 15HZ (3 or 4 days of training per game)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Tetris:  https://</a:t>
            </a:r>
            <a:r>
              <a:rPr lang="en-US" dirty="0" err="1"/>
              <a:t>www.cbc.ca</a:t>
            </a:r>
            <a:r>
              <a:rPr lang="en-US" dirty="0"/>
              <a:t>/player/play/2296942659841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our coffee robot?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monkey and banana?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9BBDA-4451-2268-20D8-9BF1464BD3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64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DBE0-DE91-A44D-5E7F-E69BD8D5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Movie: AlphaGo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E2945-3888-F772-AA4D-0FF2AF3552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Go board game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AlphaGo movie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begins with </a:t>
            </a:r>
            <a:r>
              <a:rPr lang="en-US" dirty="0" err="1"/>
              <a:t>Demis</a:t>
            </a:r>
            <a:r>
              <a:rPr lang="en-US" dirty="0"/>
              <a:t> Hassabis (co-founder of DeepMind)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After Fan Hui, we see David Silver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     At 30:00 the start of the first match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6B0DB-D406-B7E3-31CC-61C04397A6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1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813B-E418-FF8C-B48A-BC61E1FE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AAA5B-A52B-0A7D-3E7D-75A49E7954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Reward is a scalar feedback signal </a:t>
            </a:r>
            <a:r>
              <a:rPr lang="en-US" i="1" dirty="0"/>
              <a:t>R</a:t>
            </a:r>
            <a:r>
              <a:rPr lang="en-US" i="1" baseline="-25000" dirty="0"/>
              <a:t>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R</a:t>
            </a:r>
            <a:r>
              <a:rPr lang="en-US" i="1" baseline="-25000" dirty="0"/>
              <a:t>t</a:t>
            </a:r>
            <a:r>
              <a:rPr lang="en-US" i="1" dirty="0"/>
              <a:t> </a:t>
            </a:r>
            <a:r>
              <a:rPr lang="en-US" dirty="0"/>
              <a:t>represents how well the agent is doing at Step </a:t>
            </a:r>
            <a:r>
              <a:rPr lang="en-US" i="1" dirty="0"/>
              <a:t>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reinforcement learning problems are set up such that goal is to maximize cumulative reward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Reward Hypothesis: All goals can be described by the maximization of expected cumulative reward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3B626-AB7F-411D-E372-3845B09A0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74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6E72-D05C-61E8-926B-9B894703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06D8-7E24-1245-A950-95E74CECCD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reward can be received along the way, or it might come all at the 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shorter time is better, then reward per step can be negative, which favors shorter episodes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maximize reward overall, agent may need to accept small or negative rewards short-term to maximize the total reward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B2D3D-54C9-495E-60CA-0B57B71A17E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26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A693-0D5B-9071-02D5-1B36742C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Reinforcement Learning 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F5E47-AB15-D297-54AE-FCB5A913B9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955409"/>
            <a:ext cx="15252423" cy="64202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agent and environment diagram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our algorithm operates in the agent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CD013-7CF5-1D53-27CB-9D8003D624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DE40B-EAAD-84B9-A7D9-773B5BD2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44" y="3117850"/>
            <a:ext cx="7772400" cy="270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5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BDC0-BB5B-0DC8-A7B5-52F85CD2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Reinforcement Learning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3A351-B60E-B64E-51E0-C0B12D7F6D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900730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time step, the agent receives Reward, Observation, and performs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time series of Reward, Observation, and Actions is the data for Reinforcement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history at time step </a:t>
            </a:r>
            <a:r>
              <a:rPr lang="en-US" i="1" dirty="0"/>
              <a:t>t</a:t>
            </a:r>
            <a:r>
              <a:rPr lang="en-US" dirty="0"/>
              <a:t> is 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r>
              <a:rPr lang="en-US" i="1" dirty="0"/>
              <a:t> = R</a:t>
            </a:r>
            <a:r>
              <a:rPr lang="en-US" i="1" baseline="-25000" dirty="0"/>
              <a:t>1</a:t>
            </a:r>
            <a:r>
              <a:rPr lang="en-US" i="1" dirty="0"/>
              <a:t>, O</a:t>
            </a:r>
            <a:r>
              <a:rPr lang="en-US" i="1" baseline="-25000" dirty="0"/>
              <a:t>1</a:t>
            </a:r>
            <a:r>
              <a:rPr lang="en-US" i="1" dirty="0"/>
              <a:t>, A</a:t>
            </a:r>
            <a:r>
              <a:rPr lang="en-US" i="1" baseline="-25000" dirty="0"/>
              <a:t>1</a:t>
            </a:r>
            <a:r>
              <a:rPr lang="en-US" i="1" dirty="0"/>
              <a:t>, ... , R</a:t>
            </a:r>
            <a:r>
              <a:rPr lang="en-US" i="1" baseline="-25000" dirty="0"/>
              <a:t>t</a:t>
            </a:r>
            <a:r>
              <a:rPr lang="en-US" i="1" dirty="0"/>
              <a:t>, </a:t>
            </a:r>
            <a:r>
              <a:rPr lang="en-US" i="1" dirty="0" err="1"/>
              <a:t>O</a:t>
            </a:r>
            <a:r>
              <a:rPr lang="en-US" i="1" baseline="-25000" dirty="0" err="1"/>
              <a:t>t</a:t>
            </a:r>
            <a:r>
              <a:rPr lang="en-US" i="1" dirty="0"/>
              <a:t>, A</a:t>
            </a:r>
            <a:r>
              <a:rPr lang="en-US" i="1" baseline="-25000" dirty="0"/>
              <a:t>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77B98-398D-8923-8DBF-70E14BAF38B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875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B860-850C-682F-9818-437B8C70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Reinforcement Learning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08CD8-DDAB-E5A9-E7B1-B412EB7B7F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agent picks the next action at time t based on the information/data contained in 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endParaRPr lang="en-US" i="1" baseline="-25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environment determines Observations and Rewards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processing the whole history is cumbersome after many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State is a summary of the information that is used to determine what happens next (</a:t>
            </a:r>
            <a:r>
              <a:rPr lang="en-US" i="1" dirty="0"/>
              <a:t>t+1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5DEAA-2E8D-73BF-8B58-496B4B41E67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28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5CB7-02A6-E197-1F9E-CA6DDC1D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58476-3A31-D661-ECBA-095EB47CF5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913206"/>
            <a:ext cx="15444706" cy="562212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S</a:t>
            </a:r>
            <a:r>
              <a:rPr lang="en-US" i="1" baseline="-25000" dirty="0"/>
              <a:t>t</a:t>
            </a:r>
            <a:r>
              <a:rPr lang="en-US" i="1" dirty="0"/>
              <a:t> = f(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environment state (not usually directly accessible by the agent) S</a:t>
            </a:r>
            <a:r>
              <a:rPr lang="en-US" baseline="-25000" dirty="0"/>
              <a:t>t</a:t>
            </a:r>
            <a:r>
              <a:rPr lang="en-US" baseline="30000" dirty="0"/>
              <a:t>e</a:t>
            </a:r>
            <a:r>
              <a:rPr lang="en-US" dirty="0"/>
              <a:t> is whatever information is used to pick the next observation and reward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agent state </a:t>
            </a:r>
            <a:r>
              <a:rPr lang="en-US" i="1" dirty="0"/>
              <a:t>S</a:t>
            </a:r>
            <a:r>
              <a:rPr lang="en-US" i="1" baseline="-25000" dirty="0"/>
              <a:t>t</a:t>
            </a:r>
            <a:r>
              <a:rPr lang="en-US" i="1" baseline="30000" dirty="0"/>
              <a:t>a</a:t>
            </a:r>
            <a:r>
              <a:rPr lang="en-US" dirty="0"/>
              <a:t> is directly accessible to the agent, the agent keeps track of this, and it's used (somehow) to select the next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programmer is responsible for the (somehow) in the previous point. The programmer decides what the function is: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S</a:t>
            </a:r>
            <a:r>
              <a:rPr lang="en-US" i="1" baseline="-25000" dirty="0"/>
              <a:t>t</a:t>
            </a:r>
            <a:r>
              <a:rPr lang="en-US" i="1" baseline="30000" dirty="0"/>
              <a:t>a</a:t>
            </a:r>
            <a:r>
              <a:rPr lang="en-US" i="1" dirty="0"/>
              <a:t> = f(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r>
              <a:rPr lang="en-US" i="1" dirty="0"/>
              <a:t>) </a:t>
            </a:r>
            <a:r>
              <a:rPr lang="en-US" dirty="0"/>
              <a:t>for some function </a:t>
            </a:r>
            <a:r>
              <a:rPr lang="en-US" i="1" dirty="0"/>
              <a:t>f</a:t>
            </a:r>
            <a:r>
              <a:rPr lang="en-US" dirty="0"/>
              <a:t> of the programmer's choosing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CDEB2-4D44-BE5B-3978-42BC09A01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09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2E61-6C93-9849-A9F0-DE74005B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/>
              <a:t>Markov State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6F349-9F80-598C-6F54-83769044BC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392703"/>
            <a:ext cx="15252423" cy="65977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Important question in RL is whether the state satisfies the Markov Property, in other words, is it a Markov State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definition of a Markov State?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The probability of each possible value for </a:t>
            </a:r>
            <a:r>
              <a:rPr lang="en-US" i="1" dirty="0"/>
              <a:t>S</a:t>
            </a:r>
            <a:r>
              <a:rPr lang="en-US" i="1" baseline="-25000" dirty="0"/>
              <a:t>t</a:t>
            </a:r>
            <a:r>
              <a:rPr lang="en-US" dirty="0"/>
              <a:t> and </a:t>
            </a:r>
            <a:r>
              <a:rPr lang="en-US" i="1" dirty="0"/>
              <a:t>R</a:t>
            </a:r>
            <a:r>
              <a:rPr lang="en-US" i="1" baseline="-25000" dirty="0"/>
              <a:t>t</a:t>
            </a:r>
            <a:r>
              <a:rPr lang="en-US" dirty="0"/>
              <a:t> depends only on the immediately preceding state and action, </a:t>
            </a:r>
            <a:r>
              <a:rPr lang="en-US" i="1" dirty="0"/>
              <a:t>S</a:t>
            </a:r>
            <a:r>
              <a:rPr lang="en-US" i="1" baseline="-25000" dirty="0"/>
              <a:t>t-1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i="1" baseline="-25000" dirty="0"/>
              <a:t>t-1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intuition behind a Markov State?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linear motion of a particle in classical mechanics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does the position constitute a Markov state?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does the position and velocity constitute a Markov state?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4F330-6BAE-58EA-3DB1-56FCF82968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02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8042-CE4B-4429-3BD9-B2D699B6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State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36E8C-DAE3-F8A9-4A69-5AEF410011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448972"/>
            <a:ext cx="15266490" cy="64852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helicopter example (position, velocity, angular velocity, angular position, wind velocity)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/>
              <a:t>S</a:t>
            </a:r>
            <a:r>
              <a:rPr lang="en-US" i="1" baseline="-25000" dirty="0"/>
              <a:t>t</a:t>
            </a:r>
            <a:r>
              <a:rPr lang="en-US" i="1" baseline="30000" dirty="0"/>
              <a:t>e</a:t>
            </a:r>
            <a:r>
              <a:rPr lang="en-US" dirty="0"/>
              <a:t> environment state is Markov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r>
              <a:rPr lang="en-US" dirty="0"/>
              <a:t> is Markov, </a:t>
            </a:r>
            <a:r>
              <a:rPr lang="en-US" i="1" dirty="0"/>
              <a:t>S</a:t>
            </a:r>
            <a:r>
              <a:rPr lang="en-US" i="1" baseline="-25000" dirty="0"/>
              <a:t>t</a:t>
            </a:r>
            <a:r>
              <a:rPr lang="en-US" dirty="0"/>
              <a:t> = </a:t>
            </a:r>
            <a:r>
              <a:rPr lang="en-US" i="1" dirty="0"/>
              <a:t>f(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  <a:r>
              <a:rPr lang="en-US" dirty="0"/>
              <a:t> = 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endParaRPr lang="en-US" i="1" baseline="-25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It's always possible to come up with a Markov state, but we want to identify the Markov states that are more useful for us, efficient, less redundancy, etc.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32C5D-7C7F-A875-7BB4-B1EDEEBB870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717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59F-DF78-54E2-617F-BDA54F4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A306F-29A9-2A0F-E91B-DC51FF29B2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45920"/>
            <a:ext cx="15238355" cy="65133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David Silver Lecture 1, 47:54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depending on what function is chosen for </a:t>
            </a:r>
            <a:r>
              <a:rPr lang="en-US" i="1" dirty="0"/>
              <a:t>f(</a:t>
            </a:r>
            <a:r>
              <a:rPr lang="en-US" i="1" dirty="0" err="1"/>
              <a:t>H</a:t>
            </a:r>
            <a:r>
              <a:rPr lang="en-US" i="1" baseline="-25000" dirty="0" err="1"/>
              <a:t>t</a:t>
            </a:r>
            <a:r>
              <a:rPr lang="en-US" i="1" dirty="0"/>
              <a:t>)</a:t>
            </a:r>
            <a:r>
              <a:rPr lang="en-US" dirty="0"/>
              <a:t>, the question mark can be electric shock, cheese, or unknown.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CC8CC-9BB8-7635-C8C3-CCAE5542BC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54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D0CF-99F0-AF23-2216-96023C88C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Agents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D38D0-6EB0-5ECB-EADC-DEAD91C0C3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828801"/>
            <a:ext cx="15224287" cy="624605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RL Agents may include one or more of the following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Policy: function that maps state to action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Value Function: represents the value (how good is it?) of each state or action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Model: agent's internal representation of the environment, as opposed to the environment itself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FE65E-BFEB-A468-C69A-8FB7975A29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934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422C-4A8F-011E-37D0-14C1819B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316751"/>
            <a:ext cx="9475914" cy="667987"/>
          </a:xfrm>
        </p:spPr>
        <p:txBody>
          <a:bodyPr/>
          <a:lstStyle/>
          <a:p>
            <a:r>
              <a:rPr lang="en-US" dirty="0"/>
              <a:t>Policy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E868F3-3559-99A5-A34F-64FD231B7B4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094508"/>
                <a:ext cx="15210220" cy="7079673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Function: map from state to action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deterministic policy is one where there is only one choice, one action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r>
                  <a:rPr lang="en-US" i="1" dirty="0"/>
                  <a:t>a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S</a:t>
                </a:r>
                <a:r>
                  <a:rPr lang="en-US" dirty="0"/>
                  <a:t>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our goal will be to learn a function pi, from experience, such that we maximize reward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stochastic policy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 err="1"/>
                  <a:t>a|s</a:t>
                </a:r>
                <a:r>
                  <a:rPr lang="en-US" dirty="0"/>
                  <a:t>)</a:t>
                </a:r>
                <a:r>
                  <a:rPr lang="en-US" i="1" dirty="0"/>
                  <a:t> = P</a:t>
                </a:r>
                <a:r>
                  <a:rPr lang="en-US" dirty="0"/>
                  <a:t>[</a:t>
                </a:r>
                <a:r>
                  <a:rPr lang="en-US" i="1" dirty="0"/>
                  <a:t>A=</a:t>
                </a:r>
                <a:r>
                  <a:rPr lang="en-US" i="1" dirty="0" err="1"/>
                  <a:t>a|S</a:t>
                </a:r>
                <a:r>
                  <a:rPr lang="en-US" i="1" dirty="0"/>
                  <a:t>=s</a:t>
                </a:r>
                <a:r>
                  <a:rPr lang="en-US" dirty="0"/>
                  <a:t>]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This function gives the probability of one or more actions, given State </a:t>
                </a:r>
                <a:r>
                  <a:rPr lang="en-US" i="1" dirty="0"/>
                  <a:t>s</a:t>
                </a:r>
                <a:r>
                  <a:rPr lang="en-US" dirty="0"/>
                  <a:t> (non-deterministic)</a:t>
                </a:r>
              </a:p>
              <a:p>
                <a:pPr marL="1727273" lvl="1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Example: in certain state, a1 chosen 20% of the time, a2 chosen 80% of the time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E868F3-3559-99A5-A34F-64FD231B7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094508"/>
                <a:ext cx="15210220" cy="7079673"/>
              </a:xfrm>
              <a:blipFill>
                <a:blip r:embed="rId2"/>
                <a:stretch>
                  <a:fillRect l="-1501" t="-1613" b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A5023-6A0A-B993-0A16-01591B5B96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99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EB4A-B636-968E-9746-23F38C80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D32B1-29E6-BA99-92EC-50F63B42A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981200"/>
            <a:ext cx="15147554" cy="555413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value function indicates how good it is to be in a particular state with respect to expected future reward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used to pick actions, interacts with policy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value function for a policy is the sum of the expected reward for all future states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95013-51AA-49A5-E000-C13DD79091E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85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44D6-ECAB-4562-F49C-2DCD7EAA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BB720-90A2-17D8-DEE3-D42BFACD35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491" y="2404534"/>
            <a:ext cx="15600217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the case of Atari games, as states are visited, value goes up and down, because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if something good is about to happen, value function is elevated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after something good happens, that reward is behind you, and not included in the future reward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in other words the value function does not include the sum of rewards received so far, just future reward, which oscillates: David Silver Lecture 1: 1:02:15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6244E-14CF-ECD2-5AC8-F3460498567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214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1E45-4975-2073-CCA8-3E33752B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AF407-3822-17E8-34EF-1A0DB7ED57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4745773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allows inferences about how the environment will behave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 indicates or implies the next state and next reward.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From Sutton, page 7: "Models are used for planning, by which we mean any way of deciding on a course of action by considering possible future situations before they are actually experienced."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David Silver Lecture 1: Transition model (predicts states) Reward Model (predicts rewards)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not all Reinforcement Learning Problems/Solutions include a model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81D23-5F87-0C0B-0936-F00FBC5417F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236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2FD36-C41F-3691-C68E-345924E7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Maze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7356E-71A3-6A71-34E4-CC94A3B67C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939736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David Silver, Lecture 1: 1:08:00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4769F-ECC9-C98D-2E96-C812DA41D2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754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291F-8A22-379D-B4CF-3404F2CE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Taxonomy of RL Agents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53FEB-9D24-D640-C5CE-02B9BE1D7F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496291"/>
            <a:ext cx="14648791" cy="6039043"/>
          </a:xfrm>
        </p:spPr>
        <p:txBody>
          <a:bodyPr/>
          <a:lstStyle/>
          <a:p>
            <a:r>
              <a:rPr lang="en-US" dirty="0"/>
              <a:t>David Silver Lecture 1:11:0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Value Based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no policy (choose actions based on Value function)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value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Policy Based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Policy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no value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FD585-CE13-16EC-1538-FC7FC438C7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11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112E-9E72-E2BE-AD64-3D0E9F6E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Taxonomy of RL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743E8-C3F4-2574-0CD5-2BBB378AD5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31818"/>
            <a:ext cx="11615780" cy="58035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Actor Critic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Policy (actor)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Value Function (critic)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 Free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Policy and/or Value Function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no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 Based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Policy and/or Value Function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Model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848E-CB86-0C98-8E4D-4E4FA2093D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239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56FE-A318-8929-E752-440B2F0F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Subproblems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DC0C8-8946-760D-A217-000E34949A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42534"/>
            <a:ext cx="15092136" cy="6393102"/>
          </a:xfrm>
        </p:spPr>
        <p:txBody>
          <a:bodyPr/>
          <a:lstStyle/>
          <a:p>
            <a:r>
              <a:rPr lang="en-US" dirty="0"/>
              <a:t>Learning vs Planning, David Silver Lecture 1: 1:16:10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reinforcement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balancing exploitation and exploration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Always go to a good restaurant (exploit the good restaurant)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Randomly choose a new restaurant (exploration, might be better, might be worse.  This is our chance to find better, but it's a risk)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 (evaluate future reward)  vs control (optimize policy)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48799-D0F0-F2AA-AF55-9F315B32D94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48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650563"/>
            <a:ext cx="14904913" cy="6579037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you recall by answering the following questions!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the Markov Property?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are the possible components in an RL agent?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a policy in the context of RL?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a value function in the context of RL?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a model in the context of RL?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2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10918</TotalTime>
  <Words>2246</Words>
  <Application>Microsoft Macintosh PowerPoint</Application>
  <PresentationFormat>Custom</PresentationFormat>
  <Paragraphs>272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 Math</vt:lpstr>
      <vt:lpstr>Helvetica</vt:lpstr>
      <vt:lpstr>Wingdings</vt:lpstr>
      <vt:lpstr>Office Theme</vt:lpstr>
      <vt:lpstr>Introduction to Reinforcement Learning</vt:lpstr>
      <vt:lpstr>Welcome</vt:lpstr>
      <vt:lpstr>Logistics</vt:lpstr>
      <vt:lpstr>Expectations for Assignments</vt:lpstr>
      <vt:lpstr>Tips for Success</vt:lpstr>
      <vt:lpstr>Tips for Success (cont'd)</vt:lpstr>
      <vt:lpstr>Tips for Success (cont'd)</vt:lpstr>
      <vt:lpstr>Excessive Help</vt:lpstr>
      <vt:lpstr>Don't take shortcuts in Labs</vt:lpstr>
      <vt:lpstr>Plagiarism</vt:lpstr>
      <vt:lpstr>Overview of this course</vt:lpstr>
      <vt:lpstr>Week 1 Outcomes</vt:lpstr>
      <vt:lpstr>From CST8504: Reinforcement Learning</vt:lpstr>
      <vt:lpstr>Who's who of Reinforcement Learning</vt:lpstr>
      <vt:lpstr>How broad and applicable is Reinforcement Learning? </vt:lpstr>
      <vt:lpstr>RL vs Supervised and Unsupervised learning</vt:lpstr>
      <vt:lpstr>RL Examples </vt:lpstr>
      <vt:lpstr>RL Movie: AlphaGo</vt:lpstr>
      <vt:lpstr>Reinforcement Learning Problem </vt:lpstr>
      <vt:lpstr>Reward</vt:lpstr>
      <vt:lpstr>Anatomy of a Reinforcement Learning Problem </vt:lpstr>
      <vt:lpstr>Anatomy of a Reinforcement Learning Problem</vt:lpstr>
      <vt:lpstr>Anatomy of a Reinforcement Learning Problem</vt:lpstr>
      <vt:lpstr>State</vt:lpstr>
      <vt:lpstr>Markov State </vt:lpstr>
      <vt:lpstr>Markov State</vt:lpstr>
      <vt:lpstr>Rat Example </vt:lpstr>
      <vt:lpstr>RL Agents </vt:lpstr>
      <vt:lpstr>Policy </vt:lpstr>
      <vt:lpstr>Value Function </vt:lpstr>
      <vt:lpstr>Value Function (cont'd)</vt:lpstr>
      <vt:lpstr>Model </vt:lpstr>
      <vt:lpstr>Maze Example </vt:lpstr>
      <vt:lpstr>Taxonomy of RL Agents </vt:lpstr>
      <vt:lpstr>Taxonomy of RL Agents</vt:lpstr>
      <vt:lpstr>Key Subproblems </vt:lpstr>
      <vt:lpstr>Time to check your learning!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231</cp:revision>
  <dcterms:created xsi:type="dcterms:W3CDTF">2016-12-21T16:02:28Z</dcterms:created>
  <dcterms:modified xsi:type="dcterms:W3CDTF">2025-01-13T16:31:09Z</dcterms:modified>
</cp:coreProperties>
</file>